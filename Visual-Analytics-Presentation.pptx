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3"/>
    <p:sldMasterId id="2147483697" r:id="rId4"/>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5143500" cx="9144000"/>
  <p:notesSz cx="6858000" cy="9144000"/>
  <p:embeddedFontLst>
    <p:embeddedFont>
      <p:font typeface="Catamaran"/>
      <p:regular r:id="rId24"/>
      <p:bold r:id="rId25"/>
    </p:embeddedFont>
    <p:embeddedFont>
      <p:font typeface="Raleway"/>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Catamaran-regular.fntdata"/><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font" Target="fonts/Raleway-regular.fntdata"/><Relationship Id="rId25" Type="http://schemas.openxmlformats.org/officeDocument/2006/relationships/font" Target="fonts/Catamaran-bold.fntdata"/><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font" Target="fonts/Raleway-boldItalic.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 name="Shape 20"/>
        <p:cNvGrpSpPr/>
        <p:nvPr/>
      </p:nvGrpSpPr>
      <p:grpSpPr>
        <a:xfrm>
          <a:off x="0" y="0"/>
          <a:ext cx="0" cy="0"/>
          <a:chOff x="0" y="0"/>
          <a:chExt cx="0" cy="0"/>
        </a:xfrm>
      </p:grpSpPr>
      <p:sp>
        <p:nvSpPr>
          <p:cNvPr id="21" name="Google Shape;21;p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6" name="Shape 26"/>
        <p:cNvGrpSpPr/>
        <p:nvPr/>
      </p:nvGrpSpPr>
      <p:grpSpPr>
        <a:xfrm>
          <a:off x="0" y="0"/>
          <a:ext cx="0" cy="0"/>
          <a:chOff x="0" y="0"/>
          <a:chExt cx="0" cy="0"/>
        </a:xfrm>
      </p:grpSpPr>
      <p:sp>
        <p:nvSpPr>
          <p:cNvPr id="27" name="Google Shape;27;p7"/>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 name="Shape 28"/>
        <p:cNvGrpSpPr/>
        <p:nvPr/>
      </p:nvGrpSpPr>
      <p:grpSpPr>
        <a:xfrm>
          <a:off x="0" y="0"/>
          <a:ext cx="0" cy="0"/>
          <a:chOff x="0" y="0"/>
          <a:chExt cx="0" cy="0"/>
        </a:xfrm>
      </p:grpSpPr>
      <p:sp>
        <p:nvSpPr>
          <p:cNvPr id="29" name="Google Shape;29;p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3" name="Shape 33"/>
        <p:cNvGrpSpPr/>
        <p:nvPr/>
      </p:nvGrpSpPr>
      <p:grpSpPr>
        <a:xfrm>
          <a:off x="0" y="0"/>
          <a:ext cx="0" cy="0"/>
          <a:chOff x="0" y="0"/>
          <a:chExt cx="0" cy="0"/>
        </a:xfrm>
      </p:grpSpPr>
      <p:sp>
        <p:nvSpPr>
          <p:cNvPr id="34" name="Google Shape;34;p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8" name="Shape 38"/>
        <p:cNvGrpSpPr/>
        <p:nvPr/>
      </p:nvGrpSpPr>
      <p:grpSpPr>
        <a:xfrm>
          <a:off x="0" y="0"/>
          <a:ext cx="0" cy="0"/>
          <a:chOff x="0" y="0"/>
          <a:chExt cx="0" cy="0"/>
        </a:xfrm>
      </p:grpSpPr>
      <p:sp>
        <p:nvSpPr>
          <p:cNvPr id="39" name="Google Shape;39;p10"/>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3" name="Shape 43"/>
        <p:cNvGrpSpPr/>
        <p:nvPr/>
      </p:nvGrpSpPr>
      <p:grpSpPr>
        <a:xfrm>
          <a:off x="0" y="0"/>
          <a:ext cx="0" cy="0"/>
          <a:chOff x="0" y="0"/>
          <a:chExt cx="0" cy="0"/>
        </a:xfrm>
      </p:grpSpPr>
      <p:sp>
        <p:nvSpPr>
          <p:cNvPr id="44" name="Google Shape;44;p1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 name="Shape 47"/>
        <p:cNvGrpSpPr/>
        <p:nvPr/>
      </p:nvGrpSpPr>
      <p:grpSpPr>
        <a:xfrm>
          <a:off x="0" y="0"/>
          <a:ext cx="0" cy="0"/>
          <a:chOff x="0" y="0"/>
          <a:chExt cx="0" cy="0"/>
        </a:xfrm>
      </p:grpSpPr>
      <p:sp>
        <p:nvSpPr>
          <p:cNvPr id="48" name="Google Shape;48;p1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 name="Shape 53"/>
        <p:cNvGrpSpPr/>
        <p:nvPr/>
      </p:nvGrpSpPr>
      <p:grpSpPr>
        <a:xfrm>
          <a:off x="0" y="0"/>
          <a:ext cx="0" cy="0"/>
          <a:chOff x="0" y="0"/>
          <a:chExt cx="0" cy="0"/>
        </a:xfrm>
      </p:grpSpPr>
      <p:sp>
        <p:nvSpPr>
          <p:cNvPr id="54" name="Google Shape;54;p13"/>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81" name="Shape 8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82" name="Shape 82"/>
        <p:cNvGrpSpPr/>
        <p:nvPr/>
      </p:nvGrpSpPr>
      <p:grpSpPr>
        <a:xfrm>
          <a:off x="0" y="0"/>
          <a:ext cx="0" cy="0"/>
          <a:chOff x="0" y="0"/>
          <a:chExt cx="0" cy="0"/>
        </a:xfrm>
      </p:grpSpPr>
      <p:sp>
        <p:nvSpPr>
          <p:cNvPr id="83" name="Google Shape;83;p1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5" name="Shape 85"/>
        <p:cNvGrpSpPr/>
        <p:nvPr/>
      </p:nvGrpSpPr>
      <p:grpSpPr>
        <a:xfrm>
          <a:off x="0" y="0"/>
          <a:ext cx="0" cy="0"/>
          <a:chOff x="0" y="0"/>
          <a:chExt cx="0" cy="0"/>
        </a:xfrm>
      </p:grpSpPr>
      <p:sp>
        <p:nvSpPr>
          <p:cNvPr id="86" name="Google Shape;86;p17"/>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88" name="Shape 88"/>
        <p:cNvGrpSpPr/>
        <p:nvPr/>
      </p:nvGrpSpPr>
      <p:grpSpPr>
        <a:xfrm>
          <a:off x="0" y="0"/>
          <a:ext cx="0" cy="0"/>
          <a:chOff x="0" y="0"/>
          <a:chExt cx="0" cy="0"/>
        </a:xfrm>
      </p:grpSpPr>
      <p:sp>
        <p:nvSpPr>
          <p:cNvPr id="89" name="Google Shape;89;p1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1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94" name="Shape 94"/>
        <p:cNvGrpSpPr/>
        <p:nvPr/>
      </p:nvGrpSpPr>
      <p:grpSpPr>
        <a:xfrm>
          <a:off x="0" y="0"/>
          <a:ext cx="0" cy="0"/>
          <a:chOff x="0" y="0"/>
          <a:chExt cx="0" cy="0"/>
        </a:xfrm>
      </p:grpSpPr>
      <p:sp>
        <p:nvSpPr>
          <p:cNvPr id="95" name="Google Shape;95;p20"/>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6" name="Shape 96"/>
        <p:cNvGrpSpPr/>
        <p:nvPr/>
      </p:nvGrpSpPr>
      <p:grpSpPr>
        <a:xfrm>
          <a:off x="0" y="0"/>
          <a:ext cx="0" cy="0"/>
          <a:chOff x="0" y="0"/>
          <a:chExt cx="0" cy="0"/>
        </a:xfrm>
      </p:grpSpPr>
      <p:sp>
        <p:nvSpPr>
          <p:cNvPr id="97" name="Google Shape;97;p2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9" name="Google Shape;99;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0" name="Google Shape;100;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01" name="Shape 101"/>
        <p:cNvGrpSpPr/>
        <p:nvPr/>
      </p:nvGrpSpPr>
      <p:grpSpPr>
        <a:xfrm>
          <a:off x="0" y="0"/>
          <a:ext cx="0" cy="0"/>
          <a:chOff x="0" y="0"/>
          <a:chExt cx="0" cy="0"/>
        </a:xfrm>
      </p:grpSpPr>
      <p:sp>
        <p:nvSpPr>
          <p:cNvPr id="102" name="Google Shape;102;p2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4" name="Google Shape;104;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5" name="Google Shape;105;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6" name="Shape 106"/>
        <p:cNvGrpSpPr/>
        <p:nvPr/>
      </p:nvGrpSpPr>
      <p:grpSpPr>
        <a:xfrm>
          <a:off x="0" y="0"/>
          <a:ext cx="0" cy="0"/>
          <a:chOff x="0" y="0"/>
          <a:chExt cx="0" cy="0"/>
        </a:xfrm>
      </p:grpSpPr>
      <p:sp>
        <p:nvSpPr>
          <p:cNvPr id="107" name="Google Shape;107;p23"/>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9" name="Google Shape;109;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0" name="Google Shape;110;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1" name="Shape 111"/>
        <p:cNvGrpSpPr/>
        <p:nvPr/>
      </p:nvGrpSpPr>
      <p:grpSpPr>
        <a:xfrm>
          <a:off x="0" y="0"/>
          <a:ext cx="0" cy="0"/>
          <a:chOff x="0" y="0"/>
          <a:chExt cx="0" cy="0"/>
        </a:xfrm>
      </p:grpSpPr>
      <p:sp>
        <p:nvSpPr>
          <p:cNvPr id="112" name="Google Shape;112;p2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15" name="Shape 115"/>
        <p:cNvGrpSpPr/>
        <p:nvPr/>
      </p:nvGrpSpPr>
      <p:grpSpPr>
        <a:xfrm>
          <a:off x="0" y="0"/>
          <a:ext cx="0" cy="0"/>
          <a:chOff x="0" y="0"/>
          <a:chExt cx="0" cy="0"/>
        </a:xfrm>
      </p:grpSpPr>
      <p:sp>
        <p:nvSpPr>
          <p:cNvPr id="116" name="Google Shape;116;p2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8" name="Google Shape;118;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9" name="Google Shape;119;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0" name="Google Shape;120;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21" name="Shape 121"/>
        <p:cNvGrpSpPr/>
        <p:nvPr/>
      </p:nvGrpSpPr>
      <p:grpSpPr>
        <a:xfrm>
          <a:off x="0" y="0"/>
          <a:ext cx="0" cy="0"/>
          <a:chOff x="0" y="0"/>
          <a:chExt cx="0" cy="0"/>
        </a:xfrm>
      </p:grpSpPr>
      <p:sp>
        <p:nvSpPr>
          <p:cNvPr id="122" name="Google Shape;122;p2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4" name="Google Shape;124;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5" name="Google Shape;125;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6" name="Google Shape;126;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8" name="Google Shape;128;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8" name="Shape 138"/>
        <p:cNvGrpSpPr/>
        <p:nvPr/>
      </p:nvGrpSpPr>
      <p:grpSpPr>
        <a:xfrm>
          <a:off x="0" y="0"/>
          <a:ext cx="0" cy="0"/>
          <a:chOff x="0" y="0"/>
          <a:chExt cx="0" cy="0"/>
        </a:xfrm>
      </p:grpSpPr>
      <p:sp>
        <p:nvSpPr>
          <p:cNvPr id="139" name="Google Shape;139;p2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1" name="Shape 14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42" name="Shape 142"/>
        <p:cNvGrpSpPr/>
        <p:nvPr/>
      </p:nvGrpSpPr>
      <p:grpSpPr>
        <a:xfrm>
          <a:off x="0" y="0"/>
          <a:ext cx="0" cy="0"/>
          <a:chOff x="0" y="0"/>
          <a:chExt cx="0" cy="0"/>
        </a:xfrm>
      </p:grpSpPr>
      <p:sp>
        <p:nvSpPr>
          <p:cNvPr id="143" name="Google Shape;143;p30"/>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0"/>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45" name="Shape 145"/>
        <p:cNvGrpSpPr/>
        <p:nvPr/>
      </p:nvGrpSpPr>
      <p:grpSpPr>
        <a:xfrm>
          <a:off x="0" y="0"/>
          <a:ext cx="0" cy="0"/>
          <a:chOff x="0" y="0"/>
          <a:chExt cx="0" cy="0"/>
        </a:xfrm>
      </p:grpSpPr>
      <p:sp>
        <p:nvSpPr>
          <p:cNvPr id="146" name="Google Shape;146;p3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9" name="Shape 149"/>
        <p:cNvGrpSpPr/>
        <p:nvPr/>
      </p:nvGrpSpPr>
      <p:grpSpPr>
        <a:xfrm>
          <a:off x="0" y="0"/>
          <a:ext cx="0" cy="0"/>
          <a:chOff x="0" y="0"/>
          <a:chExt cx="0" cy="0"/>
        </a:xfrm>
      </p:grpSpPr>
      <p:sp>
        <p:nvSpPr>
          <p:cNvPr id="150" name="Google Shape;150;p3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51" name="Shape 151"/>
        <p:cNvGrpSpPr/>
        <p:nvPr/>
      </p:nvGrpSpPr>
      <p:grpSpPr>
        <a:xfrm>
          <a:off x="0" y="0"/>
          <a:ext cx="0" cy="0"/>
          <a:chOff x="0" y="0"/>
          <a:chExt cx="0" cy="0"/>
        </a:xfrm>
      </p:grpSpPr>
      <p:sp>
        <p:nvSpPr>
          <p:cNvPr id="152" name="Google Shape;152;p33"/>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53" name="Shape 153"/>
        <p:cNvGrpSpPr/>
        <p:nvPr/>
      </p:nvGrpSpPr>
      <p:grpSpPr>
        <a:xfrm>
          <a:off x="0" y="0"/>
          <a:ext cx="0" cy="0"/>
          <a:chOff x="0" y="0"/>
          <a:chExt cx="0" cy="0"/>
        </a:xfrm>
      </p:grpSpPr>
      <p:sp>
        <p:nvSpPr>
          <p:cNvPr id="154" name="Google Shape;154;p3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6" name="Google Shape;156;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8" name="Shape 158"/>
        <p:cNvGrpSpPr/>
        <p:nvPr/>
      </p:nvGrpSpPr>
      <p:grpSpPr>
        <a:xfrm>
          <a:off x="0" y="0"/>
          <a:ext cx="0" cy="0"/>
          <a:chOff x="0" y="0"/>
          <a:chExt cx="0" cy="0"/>
        </a:xfrm>
      </p:grpSpPr>
      <p:sp>
        <p:nvSpPr>
          <p:cNvPr id="159" name="Google Shape;159;p3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2" name="Google Shape;162;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63" name="Shape 163"/>
        <p:cNvGrpSpPr/>
        <p:nvPr/>
      </p:nvGrpSpPr>
      <p:grpSpPr>
        <a:xfrm>
          <a:off x="0" y="0"/>
          <a:ext cx="0" cy="0"/>
          <a:chOff x="0" y="0"/>
          <a:chExt cx="0" cy="0"/>
        </a:xfrm>
      </p:grpSpPr>
      <p:sp>
        <p:nvSpPr>
          <p:cNvPr id="164" name="Google Shape;164;p36"/>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8" name="Shape 168"/>
        <p:cNvGrpSpPr/>
        <p:nvPr/>
      </p:nvGrpSpPr>
      <p:grpSpPr>
        <a:xfrm>
          <a:off x="0" y="0"/>
          <a:ext cx="0" cy="0"/>
          <a:chOff x="0" y="0"/>
          <a:chExt cx="0" cy="0"/>
        </a:xfrm>
      </p:grpSpPr>
      <p:sp>
        <p:nvSpPr>
          <p:cNvPr id="169" name="Google Shape;169;p37"/>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1" name="Google Shape;171;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72" name="Shape 172"/>
        <p:cNvGrpSpPr/>
        <p:nvPr/>
      </p:nvGrpSpPr>
      <p:grpSpPr>
        <a:xfrm>
          <a:off x="0" y="0"/>
          <a:ext cx="0" cy="0"/>
          <a:chOff x="0" y="0"/>
          <a:chExt cx="0" cy="0"/>
        </a:xfrm>
      </p:grpSpPr>
      <p:sp>
        <p:nvSpPr>
          <p:cNvPr id="173" name="Google Shape;173;p3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5" name="Google Shape;175;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6" name="Google Shape;176;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7" name="Google Shape;177;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78" name="Shape 178"/>
        <p:cNvGrpSpPr/>
        <p:nvPr/>
      </p:nvGrpSpPr>
      <p:grpSpPr>
        <a:xfrm>
          <a:off x="0" y="0"/>
          <a:ext cx="0" cy="0"/>
          <a:chOff x="0" y="0"/>
          <a:chExt cx="0" cy="0"/>
        </a:xfrm>
      </p:grpSpPr>
      <p:sp>
        <p:nvSpPr>
          <p:cNvPr id="179" name="Google Shape;179;p3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1" name="Google Shape;181;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2" name="Google Shape;182;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3" name="Google Shape;183;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4" name="Google Shape;184;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5" name="Google Shape;185;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7" name="Shape 197"/>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98" name="Shape 198"/>
        <p:cNvGrpSpPr/>
        <p:nvPr/>
      </p:nvGrpSpPr>
      <p:grpSpPr>
        <a:xfrm>
          <a:off x="0" y="0"/>
          <a:ext cx="0" cy="0"/>
          <a:chOff x="0" y="0"/>
          <a:chExt cx="0" cy="0"/>
        </a:xfrm>
      </p:grpSpPr>
      <p:sp>
        <p:nvSpPr>
          <p:cNvPr id="199" name="Google Shape;199;p4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01" name="Shape 201"/>
        <p:cNvGrpSpPr/>
        <p:nvPr/>
      </p:nvGrpSpPr>
      <p:grpSpPr>
        <a:xfrm>
          <a:off x="0" y="0"/>
          <a:ext cx="0" cy="0"/>
          <a:chOff x="0" y="0"/>
          <a:chExt cx="0" cy="0"/>
        </a:xfrm>
      </p:grpSpPr>
      <p:sp>
        <p:nvSpPr>
          <p:cNvPr id="202" name="Google Shape;202;p43"/>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4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4" name="Shape 204"/>
        <p:cNvGrpSpPr/>
        <p:nvPr/>
      </p:nvGrpSpPr>
      <p:grpSpPr>
        <a:xfrm>
          <a:off x="0" y="0"/>
          <a:ext cx="0" cy="0"/>
          <a:chOff x="0" y="0"/>
          <a:chExt cx="0" cy="0"/>
        </a:xfrm>
      </p:grpSpPr>
      <p:sp>
        <p:nvSpPr>
          <p:cNvPr id="205" name="Google Shape;205;p44"/>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4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4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8" name="Shape 208"/>
        <p:cNvGrpSpPr/>
        <p:nvPr/>
      </p:nvGrpSpPr>
      <p:grpSpPr>
        <a:xfrm>
          <a:off x="0" y="0"/>
          <a:ext cx="0" cy="0"/>
          <a:chOff x="0" y="0"/>
          <a:chExt cx="0" cy="0"/>
        </a:xfrm>
      </p:grpSpPr>
      <p:sp>
        <p:nvSpPr>
          <p:cNvPr id="209" name="Google Shape;209;p45"/>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10" name="Shape 210"/>
        <p:cNvGrpSpPr/>
        <p:nvPr/>
      </p:nvGrpSpPr>
      <p:grpSpPr>
        <a:xfrm>
          <a:off x="0" y="0"/>
          <a:ext cx="0" cy="0"/>
          <a:chOff x="0" y="0"/>
          <a:chExt cx="0" cy="0"/>
        </a:xfrm>
      </p:grpSpPr>
      <p:sp>
        <p:nvSpPr>
          <p:cNvPr id="211" name="Google Shape;211;p46"/>
          <p:cNvSpPr txBox="1"/>
          <p:nvPr>
            <p:ph idx="1" type="subTitle"/>
          </p:nvPr>
        </p:nvSpPr>
        <p:spPr>
          <a:xfrm>
            <a:off x="729360" y="1322280"/>
            <a:ext cx="7687800" cy="77158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12" name="Shape 212"/>
        <p:cNvGrpSpPr/>
        <p:nvPr/>
      </p:nvGrpSpPr>
      <p:grpSpPr>
        <a:xfrm>
          <a:off x="0" y="0"/>
          <a:ext cx="0" cy="0"/>
          <a:chOff x="0" y="0"/>
          <a:chExt cx="0" cy="0"/>
        </a:xfrm>
      </p:grpSpPr>
      <p:sp>
        <p:nvSpPr>
          <p:cNvPr id="213" name="Google Shape;213;p47"/>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4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4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4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17" name="Shape 217"/>
        <p:cNvGrpSpPr/>
        <p:nvPr/>
      </p:nvGrpSpPr>
      <p:grpSpPr>
        <a:xfrm>
          <a:off x="0" y="0"/>
          <a:ext cx="0" cy="0"/>
          <a:chOff x="0" y="0"/>
          <a:chExt cx="0" cy="0"/>
        </a:xfrm>
      </p:grpSpPr>
      <p:sp>
        <p:nvSpPr>
          <p:cNvPr id="218" name="Google Shape;218;p48"/>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4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4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48"/>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22" name="Shape 222"/>
        <p:cNvGrpSpPr/>
        <p:nvPr/>
      </p:nvGrpSpPr>
      <p:grpSpPr>
        <a:xfrm>
          <a:off x="0" y="0"/>
          <a:ext cx="0" cy="0"/>
          <a:chOff x="0" y="0"/>
          <a:chExt cx="0" cy="0"/>
        </a:xfrm>
      </p:grpSpPr>
      <p:sp>
        <p:nvSpPr>
          <p:cNvPr id="223" name="Google Shape;223;p49"/>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4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5" name="Google Shape;225;p4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6" name="Google Shape;226;p49"/>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27" name="Shape 227"/>
        <p:cNvGrpSpPr/>
        <p:nvPr/>
      </p:nvGrpSpPr>
      <p:grpSpPr>
        <a:xfrm>
          <a:off x="0" y="0"/>
          <a:ext cx="0" cy="0"/>
          <a:chOff x="0" y="0"/>
          <a:chExt cx="0" cy="0"/>
        </a:xfrm>
      </p:grpSpPr>
      <p:sp>
        <p:nvSpPr>
          <p:cNvPr id="228" name="Google Shape;228;p50"/>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50"/>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0" name="Google Shape;230;p50"/>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31" name="Shape 231"/>
        <p:cNvGrpSpPr/>
        <p:nvPr/>
      </p:nvGrpSpPr>
      <p:grpSpPr>
        <a:xfrm>
          <a:off x="0" y="0"/>
          <a:ext cx="0" cy="0"/>
          <a:chOff x="0" y="0"/>
          <a:chExt cx="0" cy="0"/>
        </a:xfrm>
      </p:grpSpPr>
      <p:sp>
        <p:nvSpPr>
          <p:cNvPr id="232" name="Google Shape;232;p5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5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4" name="Google Shape;234;p5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5" name="Google Shape;235;p5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6" name="Google Shape;236;p51"/>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37" name="Shape 237"/>
        <p:cNvGrpSpPr/>
        <p:nvPr/>
      </p:nvGrpSpPr>
      <p:grpSpPr>
        <a:xfrm>
          <a:off x="0" y="0"/>
          <a:ext cx="0" cy="0"/>
          <a:chOff x="0" y="0"/>
          <a:chExt cx="0" cy="0"/>
        </a:xfrm>
      </p:grpSpPr>
      <p:sp>
        <p:nvSpPr>
          <p:cNvPr id="238" name="Google Shape;238;p52"/>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52"/>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0" name="Google Shape;240;p52"/>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1" name="Google Shape;241;p52"/>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2" name="Google Shape;242;p52"/>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3" name="Google Shape;243;p52"/>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4" name="Google Shape;244;p52"/>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4.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5.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E"/>
        </a:solidFill>
      </p:bgPr>
    </p:bg>
    <p:spTree>
      <p:nvGrpSpPr>
        <p:cNvPr id="5" name="Shape 5"/>
        <p:cNvGrpSpPr/>
        <p:nvPr/>
      </p:nvGrpSpPr>
      <p:grpSpPr>
        <a:xfrm>
          <a:off x="0" y="0"/>
          <a:ext cx="0" cy="0"/>
          <a:chOff x="0" y="0"/>
          <a:chExt cx="0" cy="0"/>
        </a:xfrm>
      </p:grpSpPr>
      <p:sp>
        <p:nvSpPr>
          <p:cNvPr id="6" name="Google Shape;6;p1"/>
          <p:cNvSpPr/>
          <p:nvPr/>
        </p:nvSpPr>
        <p:spPr>
          <a:xfrm>
            <a:off x="0" y="0"/>
            <a:ext cx="9143640" cy="487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1"/>
          <p:cNvSpPr txBox="1"/>
          <p:nvPr>
            <p:ph type="title"/>
          </p:nvPr>
        </p:nvSpPr>
        <p:spPr>
          <a:xfrm>
            <a:off x="729360" y="1322280"/>
            <a:ext cx="7687800" cy="16642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p1"/>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pic>
        <p:nvPicPr>
          <p:cNvPr id="9" name="Google Shape;9;p1"/>
          <p:cNvPicPr preferRelativeResize="0"/>
          <p:nvPr/>
        </p:nvPicPr>
        <p:blipFill rotWithShape="1">
          <a:blip r:embed="rId1">
            <a:alphaModFix/>
          </a:blip>
          <a:srcRect b="0" l="0" r="0" t="0"/>
          <a:stretch/>
        </p:blipFill>
        <p:spPr>
          <a:xfrm>
            <a:off x="6259320" y="2453400"/>
            <a:ext cx="2884320" cy="2689920"/>
          </a:xfrm>
          <a:prstGeom prst="rect">
            <a:avLst/>
          </a:prstGeom>
          <a:noFill/>
          <a:ln>
            <a:noFill/>
          </a:ln>
        </p:spPr>
      </p:pic>
      <p:sp>
        <p:nvSpPr>
          <p:cNvPr id="10" name="Google Shape;10;p1"/>
          <p:cNvSpPr/>
          <p:nvPr/>
        </p:nvSpPr>
        <p:spPr>
          <a:xfrm>
            <a:off x="830520" y="1170000"/>
            <a:ext cx="548280" cy="8784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1379160" y="1170000"/>
            <a:ext cx="548280" cy="8784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E"/>
        </a:solidFill>
      </p:bgPr>
    </p:bg>
    <p:spTree>
      <p:nvGrpSpPr>
        <p:cNvPr id="61" name="Shape 61"/>
        <p:cNvGrpSpPr/>
        <p:nvPr/>
      </p:nvGrpSpPr>
      <p:grpSpPr>
        <a:xfrm>
          <a:off x="0" y="0"/>
          <a:ext cx="0" cy="0"/>
          <a:chOff x="0" y="0"/>
          <a:chExt cx="0" cy="0"/>
        </a:xfrm>
      </p:grpSpPr>
      <p:sp>
        <p:nvSpPr>
          <p:cNvPr id="62" name="Google Shape;62;p14"/>
          <p:cNvSpPr/>
          <p:nvPr/>
        </p:nvSpPr>
        <p:spPr>
          <a:xfrm>
            <a:off x="0" y="0"/>
            <a:ext cx="9143640" cy="487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4" name="Google Shape;64;p14"/>
          <p:cNvSpPr/>
          <p:nvPr/>
        </p:nvSpPr>
        <p:spPr>
          <a:xfrm>
            <a:off x="347760" y="198324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1</a:t>
            </a:r>
            <a:endParaRPr b="0" i="0" sz="4800" u="none" cap="none" strike="noStrike">
              <a:latin typeface="Arial"/>
              <a:ea typeface="Arial"/>
              <a:cs typeface="Arial"/>
              <a:sym typeface="Arial"/>
            </a:endParaRPr>
          </a:p>
        </p:txBody>
      </p:sp>
      <p:sp>
        <p:nvSpPr>
          <p:cNvPr id="65" name="Google Shape;65;p14"/>
          <p:cNvSpPr/>
          <p:nvPr/>
        </p:nvSpPr>
        <p:spPr>
          <a:xfrm>
            <a:off x="347760" y="293796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3</a:t>
            </a:r>
            <a:endParaRPr b="0" i="0" sz="4800" u="none" cap="none" strike="noStrike">
              <a:latin typeface="Arial"/>
              <a:ea typeface="Arial"/>
              <a:cs typeface="Arial"/>
              <a:sym typeface="Arial"/>
            </a:endParaRPr>
          </a:p>
        </p:txBody>
      </p:sp>
      <p:sp>
        <p:nvSpPr>
          <p:cNvPr id="66" name="Google Shape;66;p14"/>
          <p:cNvSpPr/>
          <p:nvPr/>
        </p:nvSpPr>
        <p:spPr>
          <a:xfrm>
            <a:off x="4167000" y="198324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2</a:t>
            </a:r>
            <a:endParaRPr b="0" i="0" sz="4800" u="none" cap="none" strike="noStrike">
              <a:latin typeface="Arial"/>
              <a:ea typeface="Arial"/>
              <a:cs typeface="Arial"/>
              <a:sym typeface="Arial"/>
            </a:endParaRPr>
          </a:p>
        </p:txBody>
      </p:sp>
      <p:sp>
        <p:nvSpPr>
          <p:cNvPr id="67" name="Google Shape;67;p14"/>
          <p:cNvSpPr/>
          <p:nvPr/>
        </p:nvSpPr>
        <p:spPr>
          <a:xfrm>
            <a:off x="4167000" y="293796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4</a:t>
            </a:r>
            <a:endParaRPr b="0" i="0" sz="4800" u="none" cap="none" strike="noStrike">
              <a:latin typeface="Arial"/>
              <a:ea typeface="Arial"/>
              <a:cs typeface="Arial"/>
              <a:sym typeface="Arial"/>
            </a:endParaRPr>
          </a:p>
        </p:txBody>
      </p:sp>
      <p:sp>
        <p:nvSpPr>
          <p:cNvPr id="68" name="Google Shape;68;p14"/>
          <p:cNvSpPr/>
          <p:nvPr/>
        </p:nvSpPr>
        <p:spPr>
          <a:xfrm>
            <a:off x="1414440" y="1983240"/>
            <a:ext cx="26280" cy="840960"/>
          </a:xfrm>
          <a:custGeom>
            <a:rect b="b" l="l" r="r" t="t"/>
            <a:pathLst>
              <a:path extrusionOk="0" h="31989" w="1061">
                <a:moveTo>
                  <a:pt x="0" y="0"/>
                </a:moveTo>
                <a:lnTo>
                  <a:pt x="0" y="31989"/>
                </a:lnTo>
                <a:lnTo>
                  <a:pt x="1060" y="31989"/>
                </a:lnTo>
                <a:lnTo>
                  <a:pt x="1060" y="0"/>
                </a:lnTo>
                <a:close/>
              </a:path>
            </a:pathLst>
          </a:custGeom>
          <a:solidFill>
            <a:srgbClr val="6F0A19"/>
          </a:solidFill>
          <a:ln>
            <a:noFill/>
          </a:ln>
        </p:spPr>
      </p:sp>
      <p:sp>
        <p:nvSpPr>
          <p:cNvPr id="69" name="Google Shape;69;p14"/>
          <p:cNvSpPr/>
          <p:nvPr/>
        </p:nvSpPr>
        <p:spPr>
          <a:xfrm>
            <a:off x="1414440" y="2937960"/>
            <a:ext cx="26280" cy="840960"/>
          </a:xfrm>
          <a:custGeom>
            <a:rect b="b" l="l" r="r" t="t"/>
            <a:pathLst>
              <a:path extrusionOk="0" h="31989" w="1061">
                <a:moveTo>
                  <a:pt x="0" y="0"/>
                </a:moveTo>
                <a:lnTo>
                  <a:pt x="0" y="31989"/>
                </a:lnTo>
                <a:lnTo>
                  <a:pt x="1060" y="31989"/>
                </a:lnTo>
                <a:lnTo>
                  <a:pt x="1060" y="0"/>
                </a:lnTo>
                <a:close/>
              </a:path>
            </a:pathLst>
          </a:custGeom>
          <a:solidFill>
            <a:srgbClr val="6F0A19"/>
          </a:solidFill>
          <a:ln>
            <a:noFill/>
          </a:ln>
        </p:spPr>
      </p:sp>
      <p:sp>
        <p:nvSpPr>
          <p:cNvPr id="70" name="Google Shape;70;p14"/>
          <p:cNvSpPr/>
          <p:nvPr/>
        </p:nvSpPr>
        <p:spPr>
          <a:xfrm>
            <a:off x="5233680" y="1983240"/>
            <a:ext cx="26280" cy="840960"/>
          </a:xfrm>
          <a:custGeom>
            <a:rect b="b" l="l" r="r" t="t"/>
            <a:pathLst>
              <a:path extrusionOk="0" h="31989" w="1061">
                <a:moveTo>
                  <a:pt x="0" y="0"/>
                </a:moveTo>
                <a:lnTo>
                  <a:pt x="0" y="31989"/>
                </a:lnTo>
                <a:lnTo>
                  <a:pt x="1060" y="31989"/>
                </a:lnTo>
                <a:lnTo>
                  <a:pt x="1060" y="0"/>
                </a:lnTo>
                <a:close/>
              </a:path>
            </a:pathLst>
          </a:custGeom>
          <a:solidFill>
            <a:srgbClr val="006778"/>
          </a:solidFill>
          <a:ln>
            <a:noFill/>
          </a:ln>
        </p:spPr>
      </p:sp>
      <p:sp>
        <p:nvSpPr>
          <p:cNvPr id="71" name="Google Shape;71;p14"/>
          <p:cNvSpPr/>
          <p:nvPr/>
        </p:nvSpPr>
        <p:spPr>
          <a:xfrm>
            <a:off x="5233680" y="2937960"/>
            <a:ext cx="26280" cy="840960"/>
          </a:xfrm>
          <a:custGeom>
            <a:rect b="b" l="l" r="r" t="t"/>
            <a:pathLst>
              <a:path extrusionOk="0" h="31989" w="1061">
                <a:moveTo>
                  <a:pt x="0" y="0"/>
                </a:moveTo>
                <a:lnTo>
                  <a:pt x="0" y="31989"/>
                </a:lnTo>
                <a:lnTo>
                  <a:pt x="1060" y="31989"/>
                </a:lnTo>
                <a:lnTo>
                  <a:pt x="1060" y="0"/>
                </a:lnTo>
                <a:close/>
              </a:path>
            </a:pathLst>
          </a:custGeom>
          <a:solidFill>
            <a:srgbClr val="006778"/>
          </a:solidFill>
          <a:ln>
            <a:noFill/>
          </a:ln>
        </p:spPr>
      </p:sp>
      <p:sp>
        <p:nvSpPr>
          <p:cNvPr id="72" name="Google Shape;72;p14"/>
          <p:cNvSpPr txBox="1"/>
          <p:nvPr>
            <p:ph type="title"/>
          </p:nvPr>
        </p:nvSpPr>
        <p:spPr>
          <a:xfrm>
            <a:off x="727560" y="861840"/>
            <a:ext cx="7688520" cy="534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14"/>
          <p:cNvSpPr/>
          <p:nvPr/>
        </p:nvSpPr>
        <p:spPr>
          <a:xfrm flipH="1" rot="10800000">
            <a:off x="802080" y="780120"/>
            <a:ext cx="372600" cy="4572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flipH="1" rot="10800000">
            <a:off x="1175040" y="780120"/>
            <a:ext cx="372600" cy="4572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 name="Google Shape;75;p14"/>
          <p:cNvPicPr preferRelativeResize="0"/>
          <p:nvPr/>
        </p:nvPicPr>
        <p:blipFill rotWithShape="1">
          <a:blip r:embed="rId1">
            <a:alphaModFix/>
          </a:blip>
          <a:srcRect b="0" l="0" r="0" t="0"/>
          <a:stretch/>
        </p:blipFill>
        <p:spPr>
          <a:xfrm>
            <a:off x="7922520" y="2408040"/>
            <a:ext cx="1775880" cy="1656360"/>
          </a:xfrm>
          <a:prstGeom prst="rect">
            <a:avLst/>
          </a:prstGeom>
          <a:noFill/>
          <a:ln>
            <a:noFill/>
          </a:ln>
        </p:spPr>
      </p:pic>
      <p:sp>
        <p:nvSpPr>
          <p:cNvPr id="76" name="Google Shape;76;p14"/>
          <p:cNvSpPr/>
          <p:nvPr/>
        </p:nvSpPr>
        <p:spPr>
          <a:xfrm>
            <a:off x="347760" y="387540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5</a:t>
            </a:r>
            <a:endParaRPr b="0" i="0" sz="4800" u="none" cap="none" strike="noStrike">
              <a:latin typeface="Arial"/>
              <a:ea typeface="Arial"/>
              <a:cs typeface="Arial"/>
              <a:sym typeface="Arial"/>
            </a:endParaRPr>
          </a:p>
        </p:txBody>
      </p:sp>
      <p:sp>
        <p:nvSpPr>
          <p:cNvPr id="77" name="Google Shape;77;p14"/>
          <p:cNvSpPr/>
          <p:nvPr/>
        </p:nvSpPr>
        <p:spPr>
          <a:xfrm>
            <a:off x="4167000" y="3875400"/>
            <a:ext cx="923400" cy="840960"/>
          </a:xfrm>
          <a:prstGeom prst="rect">
            <a:avLst/>
          </a:pr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None/>
            </a:pPr>
            <a:r>
              <a:rPr b="0" i="0" lang="en-US" sz="4800" u="none" cap="none" strike="noStrike">
                <a:solidFill>
                  <a:srgbClr val="000000"/>
                </a:solidFill>
                <a:latin typeface="Raleway"/>
                <a:ea typeface="Raleway"/>
                <a:cs typeface="Raleway"/>
                <a:sym typeface="Raleway"/>
              </a:rPr>
              <a:t>6</a:t>
            </a:r>
            <a:endParaRPr b="0" i="0" sz="4800" u="none" cap="none" strike="noStrike">
              <a:latin typeface="Arial"/>
              <a:ea typeface="Arial"/>
              <a:cs typeface="Arial"/>
              <a:sym typeface="Arial"/>
            </a:endParaRPr>
          </a:p>
        </p:txBody>
      </p:sp>
      <p:sp>
        <p:nvSpPr>
          <p:cNvPr id="78" name="Google Shape;78;p14"/>
          <p:cNvSpPr/>
          <p:nvPr/>
        </p:nvSpPr>
        <p:spPr>
          <a:xfrm>
            <a:off x="1414440" y="3875400"/>
            <a:ext cx="26280" cy="840960"/>
          </a:xfrm>
          <a:custGeom>
            <a:rect b="b" l="l" r="r" t="t"/>
            <a:pathLst>
              <a:path extrusionOk="0" h="31989" w="1061">
                <a:moveTo>
                  <a:pt x="0" y="0"/>
                </a:moveTo>
                <a:lnTo>
                  <a:pt x="0" y="31989"/>
                </a:lnTo>
                <a:lnTo>
                  <a:pt x="1060" y="31989"/>
                </a:lnTo>
                <a:lnTo>
                  <a:pt x="1060" y="0"/>
                </a:lnTo>
                <a:close/>
              </a:path>
            </a:pathLst>
          </a:custGeom>
          <a:solidFill>
            <a:srgbClr val="6F0A19"/>
          </a:solidFill>
          <a:ln>
            <a:noFill/>
          </a:ln>
        </p:spPr>
      </p:sp>
      <p:sp>
        <p:nvSpPr>
          <p:cNvPr id="79" name="Google Shape;79;p14"/>
          <p:cNvSpPr/>
          <p:nvPr/>
        </p:nvSpPr>
        <p:spPr>
          <a:xfrm>
            <a:off x="5233680" y="3875400"/>
            <a:ext cx="26280" cy="840960"/>
          </a:xfrm>
          <a:custGeom>
            <a:rect b="b" l="l" r="r" t="t"/>
            <a:pathLst>
              <a:path extrusionOk="0" h="31989" w="1061">
                <a:moveTo>
                  <a:pt x="0" y="0"/>
                </a:moveTo>
                <a:lnTo>
                  <a:pt x="0" y="31989"/>
                </a:lnTo>
                <a:lnTo>
                  <a:pt x="1060" y="31989"/>
                </a:lnTo>
                <a:lnTo>
                  <a:pt x="1060" y="0"/>
                </a:lnTo>
                <a:close/>
              </a:path>
            </a:pathLst>
          </a:custGeom>
          <a:solidFill>
            <a:srgbClr val="006778"/>
          </a:solidFill>
          <a:ln>
            <a:noFill/>
          </a:ln>
        </p:spPr>
      </p:sp>
      <p:sp>
        <p:nvSpPr>
          <p:cNvPr id="80" name="Google Shape;80;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7"/>
          <p:cNvSpPr/>
          <p:nvPr/>
        </p:nvSpPr>
        <p:spPr>
          <a:xfrm>
            <a:off x="0" y="0"/>
            <a:ext cx="9143640" cy="487440"/>
          </a:xfrm>
          <a:prstGeom prst="rect">
            <a:avLst/>
          </a:prstGeom>
          <a:solidFill>
            <a:srgbClr val="E9E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7"/>
          <p:cNvSpPr txBox="1"/>
          <p:nvPr>
            <p:ph type="title"/>
          </p:nvPr>
        </p:nvSpPr>
        <p:spPr>
          <a:xfrm>
            <a:off x="727560" y="861840"/>
            <a:ext cx="7688520" cy="534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2" name="Google Shape;132;p27"/>
          <p:cNvSpPr txBox="1"/>
          <p:nvPr>
            <p:ph idx="1" type="body"/>
          </p:nvPr>
        </p:nvSpPr>
        <p:spPr>
          <a:xfrm>
            <a:off x="727560" y="1622160"/>
            <a:ext cx="7688520" cy="22608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33" name="Google Shape;133;p27"/>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i="0" sz="1000" u="none" cap="none"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34" name="Google Shape;134;p27"/>
          <p:cNvSpPr/>
          <p:nvPr/>
        </p:nvSpPr>
        <p:spPr>
          <a:xfrm>
            <a:off x="0" y="4129920"/>
            <a:ext cx="1326960" cy="1013400"/>
          </a:xfrm>
          <a:prstGeom prst="rtTriangle">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 name="Google Shape;135;p27"/>
          <p:cNvPicPr preferRelativeResize="0"/>
          <p:nvPr/>
        </p:nvPicPr>
        <p:blipFill rotWithShape="1">
          <a:blip r:embed="rId1">
            <a:alphaModFix/>
          </a:blip>
          <a:srcRect b="16522" l="7087" r="9620" t="14915"/>
          <a:stretch/>
        </p:blipFill>
        <p:spPr>
          <a:xfrm>
            <a:off x="99720" y="4626360"/>
            <a:ext cx="505440" cy="487440"/>
          </a:xfrm>
          <a:prstGeom prst="rect">
            <a:avLst/>
          </a:prstGeom>
          <a:noFill/>
          <a:ln>
            <a:noFill/>
          </a:ln>
        </p:spPr>
      </p:pic>
      <p:sp>
        <p:nvSpPr>
          <p:cNvPr id="136" name="Google Shape;136;p27"/>
          <p:cNvSpPr/>
          <p:nvPr/>
        </p:nvSpPr>
        <p:spPr>
          <a:xfrm flipH="1" rot="10800000">
            <a:off x="802080" y="780120"/>
            <a:ext cx="372600" cy="4572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flipH="1" rot="10800000">
            <a:off x="1175040" y="780120"/>
            <a:ext cx="372600" cy="4572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40"/>
          <p:cNvSpPr/>
          <p:nvPr/>
        </p:nvSpPr>
        <p:spPr>
          <a:xfrm>
            <a:off x="0" y="0"/>
            <a:ext cx="4571640" cy="5143320"/>
          </a:xfrm>
          <a:prstGeom prst="rect">
            <a:avLst/>
          </a:prstGeom>
          <a:solidFill>
            <a:srgbClr val="E9ED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0"/>
          <p:cNvSpPr txBox="1"/>
          <p:nvPr>
            <p:ph type="title"/>
          </p:nvPr>
        </p:nvSpPr>
        <p:spPr>
          <a:xfrm>
            <a:off x="770040" y="831600"/>
            <a:ext cx="3300480" cy="1360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9" name="Google Shape;189;p40"/>
          <p:cNvSpPr txBox="1"/>
          <p:nvPr>
            <p:ph idx="1" type="body"/>
          </p:nvPr>
        </p:nvSpPr>
        <p:spPr>
          <a:xfrm>
            <a:off x="5162040" y="831600"/>
            <a:ext cx="3373920" cy="30250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90" name="Google Shape;190;p40"/>
          <p:cNvSpPr txBox="1"/>
          <p:nvPr>
            <p:ph idx="12" type="sldNum"/>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None/>
              <a:defRPr b="0" sz="1000" strike="noStrike">
                <a:solidFill>
                  <a:srgbClr val="595959"/>
                </a:solidFill>
                <a:latin typeface="Catamaran"/>
                <a:ea typeface="Catamaran"/>
                <a:cs typeface="Catamaran"/>
                <a:sym typeface="Catamaran"/>
              </a:defRPr>
            </a:lvl1pPr>
            <a:lvl2pPr indent="0" lvl="1" marL="0" marR="0" rtl="0" algn="r">
              <a:lnSpc>
                <a:spcPct val="100000"/>
              </a:lnSpc>
              <a:spcBef>
                <a:spcPts val="0"/>
              </a:spcBef>
              <a:buNone/>
              <a:defRPr b="0" sz="1000" strike="noStrike">
                <a:solidFill>
                  <a:srgbClr val="595959"/>
                </a:solidFill>
                <a:latin typeface="Catamaran"/>
                <a:ea typeface="Catamaran"/>
                <a:cs typeface="Catamaran"/>
                <a:sym typeface="Catamaran"/>
              </a:defRPr>
            </a:lvl2pPr>
            <a:lvl3pPr indent="0" lvl="2" marL="0" marR="0" rtl="0" algn="r">
              <a:lnSpc>
                <a:spcPct val="100000"/>
              </a:lnSpc>
              <a:spcBef>
                <a:spcPts val="0"/>
              </a:spcBef>
              <a:buNone/>
              <a:defRPr b="0" sz="1000" strike="noStrike">
                <a:solidFill>
                  <a:srgbClr val="595959"/>
                </a:solidFill>
                <a:latin typeface="Catamaran"/>
                <a:ea typeface="Catamaran"/>
                <a:cs typeface="Catamaran"/>
                <a:sym typeface="Catamaran"/>
              </a:defRPr>
            </a:lvl3pPr>
            <a:lvl4pPr indent="0" lvl="3" marL="0" marR="0" rtl="0" algn="r">
              <a:lnSpc>
                <a:spcPct val="100000"/>
              </a:lnSpc>
              <a:spcBef>
                <a:spcPts val="0"/>
              </a:spcBef>
              <a:buNone/>
              <a:defRPr b="0" sz="1000" strike="noStrike">
                <a:solidFill>
                  <a:srgbClr val="595959"/>
                </a:solidFill>
                <a:latin typeface="Catamaran"/>
                <a:ea typeface="Catamaran"/>
                <a:cs typeface="Catamaran"/>
                <a:sym typeface="Catamaran"/>
              </a:defRPr>
            </a:lvl4pPr>
            <a:lvl5pPr indent="0" lvl="4" marL="0" marR="0" rtl="0" algn="r">
              <a:lnSpc>
                <a:spcPct val="100000"/>
              </a:lnSpc>
              <a:spcBef>
                <a:spcPts val="0"/>
              </a:spcBef>
              <a:buNone/>
              <a:defRPr b="0" sz="1000" strike="noStrike">
                <a:solidFill>
                  <a:srgbClr val="595959"/>
                </a:solidFill>
                <a:latin typeface="Catamaran"/>
                <a:ea typeface="Catamaran"/>
                <a:cs typeface="Catamaran"/>
                <a:sym typeface="Catamaran"/>
              </a:defRPr>
            </a:lvl5pPr>
            <a:lvl6pPr indent="0" lvl="5" marL="0" marR="0" rtl="0" algn="r">
              <a:lnSpc>
                <a:spcPct val="100000"/>
              </a:lnSpc>
              <a:spcBef>
                <a:spcPts val="0"/>
              </a:spcBef>
              <a:buNone/>
              <a:defRPr b="0" sz="1000" strike="noStrike">
                <a:solidFill>
                  <a:srgbClr val="595959"/>
                </a:solidFill>
                <a:latin typeface="Catamaran"/>
                <a:ea typeface="Catamaran"/>
                <a:cs typeface="Catamaran"/>
                <a:sym typeface="Catamaran"/>
              </a:defRPr>
            </a:lvl6pPr>
            <a:lvl7pPr indent="0" lvl="6" marL="0" marR="0" rtl="0" algn="r">
              <a:lnSpc>
                <a:spcPct val="100000"/>
              </a:lnSpc>
              <a:spcBef>
                <a:spcPts val="0"/>
              </a:spcBef>
              <a:buNone/>
              <a:defRPr b="0" sz="1000" strike="noStrike">
                <a:solidFill>
                  <a:srgbClr val="595959"/>
                </a:solidFill>
                <a:latin typeface="Catamaran"/>
                <a:ea typeface="Catamaran"/>
                <a:cs typeface="Catamaran"/>
                <a:sym typeface="Catamaran"/>
              </a:defRPr>
            </a:lvl7pPr>
            <a:lvl8pPr indent="0" lvl="7" marL="0" marR="0" rtl="0" algn="r">
              <a:lnSpc>
                <a:spcPct val="100000"/>
              </a:lnSpc>
              <a:spcBef>
                <a:spcPts val="0"/>
              </a:spcBef>
              <a:buNone/>
              <a:defRPr b="0" sz="1000" strike="noStrike">
                <a:solidFill>
                  <a:srgbClr val="595959"/>
                </a:solidFill>
                <a:latin typeface="Catamaran"/>
                <a:ea typeface="Catamaran"/>
                <a:cs typeface="Catamaran"/>
                <a:sym typeface="Catamaran"/>
              </a:defRPr>
            </a:lvl8pPr>
            <a:lvl9pPr indent="0" lvl="8" marL="0" marR="0" rtl="0" algn="r">
              <a:lnSpc>
                <a:spcPct val="100000"/>
              </a:lnSpc>
              <a:spcBef>
                <a:spcPts val="0"/>
              </a:spcBef>
              <a:buNone/>
              <a:defRPr b="0" sz="1000" strike="noStrike">
                <a:solidFill>
                  <a:srgbClr val="595959"/>
                </a:solidFill>
                <a:latin typeface="Catamaran"/>
                <a:ea typeface="Catamaran"/>
                <a:cs typeface="Catamaran"/>
                <a:sym typeface="Catamar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91" name="Google Shape;191;p40"/>
          <p:cNvSpPr/>
          <p:nvPr/>
        </p:nvSpPr>
        <p:spPr>
          <a:xfrm>
            <a:off x="0" y="4129920"/>
            <a:ext cx="1326960" cy="1013400"/>
          </a:xfrm>
          <a:prstGeom prst="rtTriangle">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 name="Google Shape;192;p40"/>
          <p:cNvPicPr preferRelativeResize="0"/>
          <p:nvPr/>
        </p:nvPicPr>
        <p:blipFill rotWithShape="1">
          <a:blip r:embed="rId1">
            <a:alphaModFix/>
          </a:blip>
          <a:srcRect b="17786" l="0" r="0" t="13650"/>
          <a:stretch/>
        </p:blipFill>
        <p:spPr>
          <a:xfrm>
            <a:off x="0" y="4597200"/>
            <a:ext cx="606960" cy="487440"/>
          </a:xfrm>
          <a:prstGeom prst="rect">
            <a:avLst/>
          </a:prstGeom>
          <a:noFill/>
          <a:ln>
            <a:noFill/>
          </a:ln>
        </p:spPr>
      </p:pic>
      <p:sp>
        <p:nvSpPr>
          <p:cNvPr id="193" name="Google Shape;193;p40"/>
          <p:cNvSpPr/>
          <p:nvPr/>
        </p:nvSpPr>
        <p:spPr>
          <a:xfrm flipH="1" rot="10800000">
            <a:off x="802080" y="780120"/>
            <a:ext cx="372600" cy="45720"/>
          </a:xfrm>
          <a:prstGeom prst="rect">
            <a:avLst/>
          </a:prstGeom>
          <a:solidFill>
            <a:srgbClr val="00677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0"/>
          <p:cNvSpPr/>
          <p:nvPr/>
        </p:nvSpPr>
        <p:spPr>
          <a:xfrm flipH="1" rot="10800000">
            <a:off x="1175040" y="780120"/>
            <a:ext cx="372600" cy="45720"/>
          </a:xfrm>
          <a:prstGeom prst="rect">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0"/>
          <p:cNvSpPr/>
          <p:nvPr/>
        </p:nvSpPr>
        <p:spPr>
          <a:xfrm>
            <a:off x="0" y="4129920"/>
            <a:ext cx="1326960" cy="1013400"/>
          </a:xfrm>
          <a:prstGeom prst="rtTriangle">
            <a:avLst/>
          </a:prstGeom>
          <a:solidFill>
            <a:srgbClr val="6F0A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 name="Google Shape;196;p40"/>
          <p:cNvPicPr preferRelativeResize="0"/>
          <p:nvPr/>
        </p:nvPicPr>
        <p:blipFill rotWithShape="1">
          <a:blip r:embed="rId1">
            <a:alphaModFix/>
          </a:blip>
          <a:srcRect b="16522" l="7087" r="9620" t="14915"/>
          <a:stretch/>
        </p:blipFill>
        <p:spPr>
          <a:xfrm>
            <a:off x="99720" y="4626360"/>
            <a:ext cx="505440" cy="48744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visualanalyticsprojectradviz.netlify.ap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3"/>
          <p:cNvSpPr txBox="1"/>
          <p:nvPr/>
        </p:nvSpPr>
        <p:spPr>
          <a:xfrm>
            <a:off x="729360" y="1322280"/>
            <a:ext cx="7687800" cy="16642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3200" u="none" cap="none" strike="noStrike">
                <a:solidFill>
                  <a:srgbClr val="CE181E"/>
                </a:solidFill>
                <a:latin typeface="Catamaran"/>
                <a:ea typeface="Catamaran"/>
                <a:cs typeface="Catamaran"/>
                <a:sym typeface="Catamaran"/>
              </a:rPr>
              <a:t>HD-Vis: A visual analysis of global Human </a:t>
            </a:r>
            <a:r>
              <a:rPr b="1" lang="en-US" sz="3200">
                <a:solidFill>
                  <a:srgbClr val="CE181E"/>
                </a:solidFill>
                <a:latin typeface="Catamaran"/>
                <a:ea typeface="Catamaran"/>
                <a:cs typeface="Catamaran"/>
                <a:sym typeface="Catamaran"/>
              </a:rPr>
              <a:t>Development</a:t>
            </a:r>
            <a:endParaRPr b="0" i="0" sz="3200" u="none" cap="none" strike="noStrike">
              <a:solidFill>
                <a:srgbClr val="000000"/>
              </a:solidFill>
              <a:latin typeface="Arial"/>
              <a:ea typeface="Arial"/>
              <a:cs typeface="Arial"/>
              <a:sym typeface="Arial"/>
            </a:endParaRPr>
          </a:p>
        </p:txBody>
      </p:sp>
      <p:sp>
        <p:nvSpPr>
          <p:cNvPr id="250" name="Google Shape;250;p53"/>
          <p:cNvSpPr txBox="1"/>
          <p:nvPr/>
        </p:nvSpPr>
        <p:spPr>
          <a:xfrm>
            <a:off x="729720" y="3173040"/>
            <a:ext cx="7687800" cy="8211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600">
                <a:solidFill>
                  <a:srgbClr val="595959"/>
                </a:solidFill>
                <a:latin typeface="Catamaran"/>
                <a:ea typeface="Catamaran"/>
                <a:cs typeface="Catamaran"/>
                <a:sym typeface="Catamaran"/>
              </a:rPr>
              <a:t>Giuseppe Fosci </a:t>
            </a:r>
            <a:endParaRPr sz="1600">
              <a:solidFill>
                <a:srgbClr val="595959"/>
              </a:solidFill>
              <a:latin typeface="Catamaran"/>
              <a:ea typeface="Catamaran"/>
              <a:cs typeface="Catamaran"/>
              <a:sym typeface="Catamaran"/>
            </a:endParaRPr>
          </a:p>
          <a:p>
            <a:pPr indent="0" lvl="0" marL="0" marR="0" rtl="0" algn="l">
              <a:lnSpc>
                <a:spcPct val="100000"/>
              </a:lnSpc>
              <a:spcBef>
                <a:spcPts val="0"/>
              </a:spcBef>
              <a:spcAft>
                <a:spcPts val="0"/>
              </a:spcAft>
              <a:buNone/>
            </a:pPr>
            <a:r>
              <a:rPr lang="en-US" sz="1600">
                <a:solidFill>
                  <a:srgbClr val="595959"/>
                </a:solidFill>
                <a:latin typeface="Catamaran"/>
                <a:ea typeface="Catamaran"/>
                <a:cs typeface="Catamaran"/>
                <a:sym typeface="Catamaran"/>
              </a:rPr>
              <a:t>Emilio Martino </a:t>
            </a:r>
            <a:endParaRPr sz="1600">
              <a:solidFill>
                <a:srgbClr val="595959"/>
              </a:solidFill>
              <a:latin typeface="Catamaran"/>
              <a:ea typeface="Catamaran"/>
              <a:cs typeface="Catamaran"/>
              <a:sym typeface="Catamaran"/>
            </a:endParaRPr>
          </a:p>
          <a:p>
            <a:pPr indent="0" lvl="0" marL="0" marR="0" rtl="0" algn="l">
              <a:lnSpc>
                <a:spcPct val="100000"/>
              </a:lnSpc>
              <a:spcBef>
                <a:spcPts val="0"/>
              </a:spcBef>
              <a:spcAft>
                <a:spcPts val="0"/>
              </a:spcAft>
              <a:buNone/>
            </a:pPr>
            <a:r>
              <a:rPr lang="en-US" sz="1600">
                <a:solidFill>
                  <a:srgbClr val="595959"/>
                </a:solidFill>
                <a:latin typeface="Catamaran"/>
                <a:ea typeface="Catamaran"/>
                <a:cs typeface="Catamaran"/>
                <a:sym typeface="Catamaran"/>
              </a:rPr>
              <a:t>Alessio Rago</a:t>
            </a:r>
            <a:br>
              <a:rPr b="0" i="0" lang="en-US" sz="1800" u="none" cap="none" strike="noStrike"/>
            </a:br>
            <a:endParaRPr b="0" i="0" sz="1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595959"/>
                </a:solidFill>
                <a:latin typeface="Catamaran"/>
                <a:ea typeface="Catamaran"/>
                <a:cs typeface="Catamaran"/>
                <a:sym typeface="Catamaran"/>
              </a:rPr>
              <a:t>Visual Analytics – Project Presentation</a:t>
            </a:r>
            <a:br>
              <a:rPr b="0" i="0" lang="en-US" sz="1800" u="none" cap="none" strike="noStrike"/>
            </a:br>
            <a:r>
              <a:rPr b="0" i="0" lang="en-US" sz="1600" u="none" cap="none" strike="noStrike">
                <a:solidFill>
                  <a:srgbClr val="595959"/>
                </a:solidFill>
                <a:latin typeface="Catamaran"/>
                <a:ea typeface="Catamaran"/>
                <a:cs typeface="Catamaran"/>
                <a:sym typeface="Catamaran"/>
              </a:rPr>
              <a:t>Sapienza University of Rome</a:t>
            </a:r>
            <a:endParaRPr b="0" i="0" sz="16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54"/>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595959"/>
                </a:solidFill>
                <a:latin typeface="Catamaran"/>
                <a:ea typeface="Catamaran"/>
                <a:cs typeface="Catamaran"/>
                <a:sym typeface="Catamaran"/>
              </a:rPr>
              <a:t>‹#›</a:t>
            </a:fld>
            <a:endParaRPr b="0" i="0" sz="1000" u="none" cap="none" strike="noStrike">
              <a:latin typeface="Times New Roman"/>
              <a:ea typeface="Times New Roman"/>
              <a:cs typeface="Times New Roman"/>
              <a:sym typeface="Times New Roman"/>
            </a:endParaRPr>
          </a:p>
        </p:txBody>
      </p:sp>
      <p:sp>
        <p:nvSpPr>
          <p:cNvPr id="256" name="Google Shape;256;p54"/>
          <p:cNvSpPr txBox="1"/>
          <p:nvPr/>
        </p:nvSpPr>
        <p:spPr>
          <a:xfrm>
            <a:off x="727560" y="86184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800" u="sng" cap="none" strike="noStrike">
                <a:solidFill>
                  <a:srgbClr val="000000"/>
                </a:solidFill>
                <a:latin typeface="Catamaran"/>
                <a:ea typeface="Catamaran"/>
                <a:cs typeface="Catamaran"/>
                <a:sym typeface="Catamaran"/>
              </a:rPr>
              <a:t>Table of contents</a:t>
            </a:r>
            <a:endParaRPr b="0" i="0" sz="2800" u="none" cap="none" strike="noStrike">
              <a:solidFill>
                <a:srgbClr val="000000"/>
              </a:solidFill>
              <a:latin typeface="Arial"/>
              <a:ea typeface="Arial"/>
              <a:cs typeface="Arial"/>
              <a:sym typeface="Arial"/>
            </a:endParaRPr>
          </a:p>
        </p:txBody>
      </p:sp>
      <p:sp>
        <p:nvSpPr>
          <p:cNvPr id="257" name="Google Shape;257;p54"/>
          <p:cNvSpPr/>
          <p:nvPr/>
        </p:nvSpPr>
        <p:spPr>
          <a:xfrm>
            <a:off x="1583640" y="198324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Introduction</a:t>
            </a:r>
            <a:endParaRPr b="0" i="0" sz="2200" u="none" cap="none" strike="noStrike">
              <a:latin typeface="Arial"/>
              <a:ea typeface="Arial"/>
              <a:cs typeface="Arial"/>
              <a:sym typeface="Arial"/>
            </a:endParaRPr>
          </a:p>
        </p:txBody>
      </p:sp>
      <p:sp>
        <p:nvSpPr>
          <p:cNvPr id="258" name="Google Shape;258;p54"/>
          <p:cNvSpPr/>
          <p:nvPr/>
        </p:nvSpPr>
        <p:spPr>
          <a:xfrm>
            <a:off x="5402880" y="1983240"/>
            <a:ext cx="251964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Related Works</a:t>
            </a:r>
            <a:endParaRPr b="0" i="0" sz="2200" u="none" cap="none" strike="noStrike">
              <a:latin typeface="Arial"/>
              <a:ea typeface="Arial"/>
              <a:cs typeface="Arial"/>
              <a:sym typeface="Arial"/>
            </a:endParaRPr>
          </a:p>
        </p:txBody>
      </p:sp>
      <p:sp>
        <p:nvSpPr>
          <p:cNvPr id="259" name="Google Shape;259;p54"/>
          <p:cNvSpPr/>
          <p:nvPr/>
        </p:nvSpPr>
        <p:spPr>
          <a:xfrm>
            <a:off x="1583640" y="293796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Dataset</a:t>
            </a:r>
            <a:endParaRPr b="0" i="0" sz="2200" u="none" cap="none" strike="noStrike">
              <a:latin typeface="Arial"/>
              <a:ea typeface="Arial"/>
              <a:cs typeface="Arial"/>
              <a:sym typeface="Arial"/>
            </a:endParaRPr>
          </a:p>
        </p:txBody>
      </p:sp>
      <p:sp>
        <p:nvSpPr>
          <p:cNvPr id="260" name="Google Shape;260;p54"/>
          <p:cNvSpPr/>
          <p:nvPr/>
        </p:nvSpPr>
        <p:spPr>
          <a:xfrm>
            <a:off x="5402880" y="2937960"/>
            <a:ext cx="238896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Visualizations</a:t>
            </a:r>
            <a:endParaRPr b="0" i="0" sz="2200" u="none" cap="none" strike="noStrike">
              <a:latin typeface="Arial"/>
              <a:ea typeface="Arial"/>
              <a:cs typeface="Arial"/>
              <a:sym typeface="Arial"/>
            </a:endParaRPr>
          </a:p>
        </p:txBody>
      </p:sp>
      <p:sp>
        <p:nvSpPr>
          <p:cNvPr id="261" name="Google Shape;261;p54"/>
          <p:cNvSpPr/>
          <p:nvPr/>
        </p:nvSpPr>
        <p:spPr>
          <a:xfrm>
            <a:off x="1583640" y="387540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Insight</a:t>
            </a:r>
            <a:endParaRPr b="0" i="0" sz="2200" u="none" cap="none" strike="noStrike">
              <a:latin typeface="Arial"/>
              <a:ea typeface="Arial"/>
              <a:cs typeface="Arial"/>
              <a:sym typeface="Arial"/>
            </a:endParaRPr>
          </a:p>
        </p:txBody>
      </p:sp>
      <p:sp>
        <p:nvSpPr>
          <p:cNvPr id="262" name="Google Shape;262;p54"/>
          <p:cNvSpPr/>
          <p:nvPr/>
        </p:nvSpPr>
        <p:spPr>
          <a:xfrm>
            <a:off x="5402880" y="3875400"/>
            <a:ext cx="2140920" cy="84096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CE181E"/>
                </a:solidFill>
                <a:latin typeface="Catamaran"/>
                <a:ea typeface="Catamaran"/>
                <a:cs typeface="Catamaran"/>
                <a:sym typeface="Catamaran"/>
              </a:rPr>
              <a:t>Live Demo</a:t>
            </a:r>
            <a:endParaRPr b="0" i="0" sz="22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5"/>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2200" u="none" cap="none" strike="noStrike">
                <a:solidFill>
                  <a:srgbClr val="BA131A"/>
                </a:solidFill>
                <a:latin typeface="Catamaran"/>
                <a:ea typeface="Catamaran"/>
                <a:cs typeface="Catamaran"/>
                <a:sym typeface="Catamaran"/>
              </a:rPr>
              <a:t>Introduction</a:t>
            </a:r>
            <a:endParaRPr b="0" i="0" sz="2200" u="none" cap="none" strike="noStrike">
              <a:solidFill>
                <a:srgbClr val="000000"/>
              </a:solidFill>
              <a:latin typeface="Arial"/>
              <a:ea typeface="Arial"/>
              <a:cs typeface="Arial"/>
              <a:sym typeface="Arial"/>
            </a:endParaRPr>
          </a:p>
        </p:txBody>
      </p:sp>
      <p:sp>
        <p:nvSpPr>
          <p:cNvPr id="268" name="Google Shape;268;p55"/>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u="none" cap="none" strike="noStrike">
                <a:solidFill>
                  <a:srgbClr val="595959"/>
                </a:solidFill>
                <a:latin typeface="Catamaran"/>
                <a:ea typeface="Catamaran"/>
                <a:cs typeface="Catamaran"/>
                <a:sym typeface="Catamaran"/>
              </a:rPr>
              <a:t>HDI overview</a:t>
            </a:r>
            <a:endParaRPr b="0" i="0" sz="1400" u="none" cap="none" strike="noStrike">
              <a:solidFill>
                <a:srgbClr val="000000"/>
              </a:solidFill>
              <a:latin typeface="Arial"/>
              <a:ea typeface="Arial"/>
              <a:cs typeface="Arial"/>
              <a:sym typeface="Arial"/>
            </a:endParaRPr>
          </a:p>
        </p:txBody>
      </p:sp>
      <p:sp>
        <p:nvSpPr>
          <p:cNvPr id="269" name="Google Shape;269;p55"/>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i="0" lang="en-US" sz="1000" u="none" cap="none" strike="noStrike">
                <a:solidFill>
                  <a:srgbClr val="595959"/>
                </a:solidFill>
                <a:latin typeface="Catamaran"/>
                <a:ea typeface="Catamaran"/>
                <a:cs typeface="Catamaran"/>
                <a:sym typeface="Catamaran"/>
              </a:rPr>
              <a:t>‹#›</a:t>
            </a:fld>
            <a:endParaRPr b="0" i="0" sz="1000" u="none" cap="none" strike="noStrike">
              <a:latin typeface="Times New Roman"/>
              <a:ea typeface="Times New Roman"/>
              <a:cs typeface="Times New Roman"/>
              <a:sym typeface="Times New Roman"/>
            </a:endParaRPr>
          </a:p>
        </p:txBody>
      </p:sp>
      <p:sp>
        <p:nvSpPr>
          <p:cNvPr id="270" name="Google Shape;270;p55"/>
          <p:cNvSpPr txBox="1"/>
          <p:nvPr/>
        </p:nvSpPr>
        <p:spPr>
          <a:xfrm>
            <a:off x="720360" y="1570680"/>
            <a:ext cx="7947360" cy="1021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1200" u="none" cap="none" strike="noStrike">
                <a:latin typeface="Arial"/>
                <a:ea typeface="Arial"/>
                <a:cs typeface="Arial"/>
                <a:sym typeface="Arial"/>
              </a:rPr>
              <a:t>This dashboard was created to allow comparison between different partitions of data between RadViz and different other types of graphs and through this comparison you can highlight the pros and cons of using RadViz depending on the size and variety of the data sets.</a:t>
            </a:r>
            <a:endParaRPr b="0" i="0" sz="1200" u="none" cap="none" strike="noStrike">
              <a:latin typeface="Arial"/>
              <a:ea typeface="Arial"/>
              <a:cs typeface="Arial"/>
              <a:sym typeface="Arial"/>
            </a:endParaRPr>
          </a:p>
          <a:p>
            <a:pPr indent="0" lvl="0" marL="0" marR="0" rtl="0" algn="l">
              <a:spcBef>
                <a:spcPts val="992"/>
              </a:spcBef>
              <a:spcAft>
                <a:spcPts val="0"/>
              </a:spcAft>
              <a:buNone/>
            </a:pPr>
            <a:r>
              <a:t/>
            </a:r>
            <a:endParaRPr b="0" sz="1200" strike="noStrike">
              <a:latin typeface="Arial"/>
              <a:ea typeface="Arial"/>
              <a:cs typeface="Arial"/>
              <a:sym typeface="Arial"/>
            </a:endParaRPr>
          </a:p>
        </p:txBody>
      </p:sp>
      <p:pic>
        <p:nvPicPr>
          <p:cNvPr id="271" name="Google Shape;271;p55" title="RadViz image.png"/>
          <p:cNvPicPr preferRelativeResize="0"/>
          <p:nvPr/>
        </p:nvPicPr>
        <p:blipFill>
          <a:blip r:embed="rId3">
            <a:alphaModFix/>
          </a:blip>
          <a:stretch>
            <a:fillRect/>
          </a:stretch>
        </p:blipFill>
        <p:spPr>
          <a:xfrm>
            <a:off x="1331925" y="2324300"/>
            <a:ext cx="6201134" cy="2246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6"/>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Related Works</a:t>
            </a:r>
            <a:endParaRPr b="0" sz="2200" strike="noStrike">
              <a:solidFill>
                <a:srgbClr val="000000"/>
              </a:solidFill>
              <a:latin typeface="Arial"/>
              <a:ea typeface="Arial"/>
              <a:cs typeface="Arial"/>
              <a:sym typeface="Arial"/>
            </a:endParaRPr>
          </a:p>
        </p:txBody>
      </p:sp>
      <p:sp>
        <p:nvSpPr>
          <p:cNvPr id="277" name="Google Shape;277;p56"/>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Scientific papers related to</a:t>
            </a:r>
            <a:r>
              <a:rPr i="1" lang="en-US">
                <a:solidFill>
                  <a:srgbClr val="595959"/>
                </a:solidFill>
                <a:latin typeface="Catamaran"/>
                <a:ea typeface="Catamaran"/>
                <a:cs typeface="Catamaran"/>
                <a:sym typeface="Catamaran"/>
              </a:rPr>
              <a:t> RadViz</a:t>
            </a:r>
            <a:endParaRPr b="0" sz="1400" strike="noStrike">
              <a:solidFill>
                <a:srgbClr val="000000"/>
              </a:solidFill>
              <a:latin typeface="Arial"/>
              <a:ea typeface="Arial"/>
              <a:cs typeface="Arial"/>
              <a:sym typeface="Arial"/>
            </a:endParaRPr>
          </a:p>
        </p:txBody>
      </p:sp>
      <p:sp>
        <p:nvSpPr>
          <p:cNvPr id="278" name="Google Shape;278;p56"/>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279" name="Google Shape;279;p56"/>
          <p:cNvSpPr txBox="1"/>
          <p:nvPr/>
        </p:nvSpPr>
        <p:spPr>
          <a:xfrm>
            <a:off x="356760" y="1664280"/>
            <a:ext cx="8176680" cy="24534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None/>
            </a:pPr>
            <a:r>
              <a:rPr lang="en-US" sz="1100">
                <a:latin typeface="Catamaran"/>
                <a:ea typeface="Catamaran"/>
                <a:cs typeface="Catamaran"/>
                <a:sym typeface="Catamaran"/>
              </a:rPr>
              <a:t>This work is an implementation and practical demonstration of the concepts presented in the following research papers, which provided the theoretical foundation for the project:</a:t>
            </a:r>
            <a:endParaRPr sz="1100">
              <a:latin typeface="Catamaran"/>
              <a:ea typeface="Catamaran"/>
              <a:cs typeface="Catamaran"/>
              <a:sym typeface="Catamaran"/>
            </a:endParaRPr>
          </a:p>
          <a:p>
            <a:pPr indent="0" lvl="0" marL="457200" marR="0" rtl="0" algn="l">
              <a:lnSpc>
                <a:spcPct val="115000"/>
              </a:lnSpc>
              <a:spcBef>
                <a:spcPts val="0"/>
              </a:spcBef>
              <a:spcAft>
                <a:spcPts val="0"/>
              </a:spcAft>
              <a:buNone/>
            </a:pPr>
            <a:r>
              <a:t/>
            </a:r>
            <a:endParaRPr sz="1100">
              <a:latin typeface="Catamaran"/>
              <a:ea typeface="Catamaran"/>
              <a:cs typeface="Catamaran"/>
              <a:sym typeface="Catamaran"/>
            </a:endParaRPr>
          </a:p>
          <a:p>
            <a:pPr indent="-323999" lvl="0" marL="431999" marR="0" rtl="0" algn="l">
              <a:lnSpc>
                <a:spcPct val="115000"/>
              </a:lnSpc>
              <a:spcBef>
                <a:spcPts val="0"/>
              </a:spcBef>
              <a:spcAft>
                <a:spcPts val="0"/>
              </a:spcAft>
              <a:buClr>
                <a:srgbClr val="000000"/>
              </a:buClr>
              <a:buSzPts val="495"/>
              <a:buFont typeface="Noto Sans Symbols"/>
              <a:buChar char="●"/>
            </a:pPr>
            <a:r>
              <a:rPr b="1" i="1" lang="en-US" sz="1100" strike="noStrike">
                <a:solidFill>
                  <a:srgbClr val="000000"/>
                </a:solidFill>
                <a:latin typeface="Catamaran"/>
                <a:ea typeface="Catamaran"/>
                <a:cs typeface="Catamaran"/>
                <a:sym typeface="Catamaran"/>
              </a:rPr>
              <a:t>[1] </a:t>
            </a:r>
            <a:r>
              <a:rPr b="1" i="1" lang="en-US" sz="1100">
                <a:latin typeface="Catamaran"/>
                <a:ea typeface="Catamaran"/>
                <a:cs typeface="Catamaran"/>
                <a:sym typeface="Catamaran"/>
              </a:rPr>
              <a:t>“</a:t>
            </a:r>
            <a:r>
              <a:rPr b="1" i="1" lang="en-US" sz="1100">
                <a:latin typeface="Catamaran"/>
                <a:ea typeface="Catamaran"/>
                <a:cs typeface="Catamaran"/>
                <a:sym typeface="Catamaran"/>
              </a:rPr>
              <a:t>To RadViz or not to RadViz</a:t>
            </a:r>
            <a:r>
              <a:rPr b="1" i="1" lang="en-US" sz="1100" strike="noStrike">
                <a:solidFill>
                  <a:srgbClr val="000000"/>
                </a:solidFill>
                <a:latin typeface="Catamaran"/>
                <a:ea typeface="Catamaran"/>
                <a:cs typeface="Catamaran"/>
                <a:sym typeface="Catamaran"/>
              </a:rPr>
              <a:t>":</a:t>
            </a:r>
            <a:r>
              <a:rPr b="0" lang="en-US" sz="1100" strike="noStrike">
                <a:solidFill>
                  <a:srgbClr val="000000"/>
                </a:solidFill>
                <a:latin typeface="Catamaran"/>
                <a:ea typeface="Catamaran"/>
                <a:cs typeface="Catamaran"/>
                <a:sym typeface="Catamaran"/>
              </a:rPr>
              <a:t> M. Ficorella, S. Lenti, and G. Santucci, "To RadViz or not to RadViz", in Eurographics Conference on Visualization (EuroVis) 2023, D. Archambault, R. Bujack, and T. Schreck (Guest Editors), vol. 42, no. 3, 2023</a:t>
            </a:r>
            <a:endParaRPr b="0" sz="1100" strike="noStrike">
              <a:solidFill>
                <a:srgbClr val="000000"/>
              </a:solidFill>
              <a:latin typeface="Catamaran"/>
              <a:ea typeface="Catamaran"/>
              <a:cs typeface="Catamaran"/>
              <a:sym typeface="Catamaran"/>
            </a:endParaRPr>
          </a:p>
          <a:p>
            <a:pPr indent="-323999" lvl="0" marL="431999" marR="0" rtl="0" algn="l">
              <a:lnSpc>
                <a:spcPct val="115000"/>
              </a:lnSpc>
              <a:spcBef>
                <a:spcPts val="0"/>
              </a:spcBef>
              <a:spcAft>
                <a:spcPts val="0"/>
              </a:spcAft>
              <a:buClr>
                <a:srgbClr val="000000"/>
              </a:buClr>
              <a:buSzPts val="495"/>
              <a:buFont typeface="Noto Sans Symbols"/>
              <a:buChar char="●"/>
            </a:pPr>
            <a:r>
              <a:rPr b="1" i="1" lang="en-US" sz="1100">
                <a:solidFill>
                  <a:schemeClr val="dk1"/>
                </a:solidFill>
                <a:latin typeface="Catamaran"/>
                <a:ea typeface="Catamaran"/>
                <a:cs typeface="Catamaran"/>
                <a:sym typeface="Catamaran"/>
              </a:rPr>
              <a:t>[2] “Towards Enhancing RadViz Analysis and Interpretation":</a:t>
            </a:r>
            <a:r>
              <a:rPr lang="en-US" sz="1100">
                <a:solidFill>
                  <a:schemeClr val="dk1"/>
                </a:solidFill>
                <a:latin typeface="Catamaran"/>
                <a:ea typeface="Catamaran"/>
                <a:cs typeface="Catamaran"/>
                <a:sym typeface="Catamaran"/>
              </a:rPr>
              <a:t> </a:t>
            </a:r>
            <a:r>
              <a:rPr lang="en-US" sz="1000">
                <a:solidFill>
                  <a:srgbClr val="333333"/>
                </a:solidFill>
                <a:highlight>
                  <a:srgbClr val="FFFFFF"/>
                </a:highlight>
              </a:rPr>
              <a:t>M. Angelini, G. Blasilli, S. Lenti, A. Palleschi and G. Santucci, "Towards Enhancing RadViz Analysis and Interpretation", </a:t>
            </a:r>
            <a:r>
              <a:rPr i="1" lang="en-US" sz="1000">
                <a:solidFill>
                  <a:srgbClr val="333333"/>
                </a:solidFill>
                <a:highlight>
                  <a:srgbClr val="FFFFFF"/>
                </a:highlight>
              </a:rPr>
              <a:t>2019 IEEE Visualization Conference (VIS)</a:t>
            </a:r>
            <a:r>
              <a:rPr lang="en-US" sz="1000">
                <a:solidFill>
                  <a:srgbClr val="333333"/>
                </a:solidFill>
                <a:highlight>
                  <a:srgbClr val="FFFFFF"/>
                </a:highlight>
              </a:rPr>
              <a:t>, Vancouver, BC, Canada, 2019, pp. 226-230</a:t>
            </a:r>
            <a:endParaRPr sz="1100">
              <a:latin typeface="Catamaran"/>
              <a:ea typeface="Catamaran"/>
              <a:cs typeface="Catamaran"/>
              <a:sym typeface="Catamaran"/>
            </a:endParaRPr>
          </a:p>
          <a:p>
            <a:pPr indent="0" lvl="0" marL="0" marR="0" rtl="0" algn="l">
              <a:lnSpc>
                <a:spcPct val="115000"/>
              </a:lnSpc>
              <a:spcBef>
                <a:spcPts val="0"/>
              </a:spcBef>
              <a:spcAft>
                <a:spcPts val="0"/>
              </a:spcAft>
              <a:buNone/>
            </a:pPr>
            <a:r>
              <a:t/>
            </a:r>
            <a:endParaRPr sz="1100">
              <a:latin typeface="Catamaran"/>
              <a:ea typeface="Catamaran"/>
              <a:cs typeface="Catamaran"/>
              <a:sym typeface="Catamaran"/>
            </a:endParaRPr>
          </a:p>
          <a:p>
            <a:pPr indent="0" lvl="0" marL="0" marR="0" rtl="0" algn="l">
              <a:lnSpc>
                <a:spcPct val="115000"/>
              </a:lnSpc>
              <a:spcBef>
                <a:spcPts val="0"/>
              </a:spcBef>
              <a:spcAft>
                <a:spcPts val="0"/>
              </a:spcAft>
              <a:buNone/>
            </a:pPr>
            <a:r>
              <a:rPr lang="en-US" sz="1100">
                <a:latin typeface="Catamaran"/>
                <a:ea typeface="Catamaran"/>
                <a:cs typeface="Catamaran"/>
                <a:sym typeface="Catamaran"/>
              </a:rPr>
              <a:t>           </a:t>
            </a:r>
            <a:endParaRPr sz="1100">
              <a:latin typeface="Catamaran"/>
              <a:ea typeface="Catamaran"/>
              <a:cs typeface="Catamaran"/>
              <a:sym typeface="Catamar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7"/>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Dataset</a:t>
            </a:r>
            <a:endParaRPr b="0" sz="2200" strike="noStrike">
              <a:solidFill>
                <a:srgbClr val="000000"/>
              </a:solidFill>
              <a:latin typeface="Arial"/>
              <a:ea typeface="Arial"/>
              <a:cs typeface="Arial"/>
              <a:sym typeface="Arial"/>
            </a:endParaRPr>
          </a:p>
        </p:txBody>
      </p:sp>
      <p:sp>
        <p:nvSpPr>
          <p:cNvPr id="285" name="Google Shape;285;p57"/>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Dataset description</a:t>
            </a:r>
            <a:endParaRPr b="0" sz="1400" strike="noStrike">
              <a:solidFill>
                <a:srgbClr val="000000"/>
              </a:solidFill>
              <a:latin typeface="Arial"/>
              <a:ea typeface="Arial"/>
              <a:cs typeface="Arial"/>
              <a:sym typeface="Arial"/>
            </a:endParaRPr>
          </a:p>
        </p:txBody>
      </p:sp>
      <p:sp>
        <p:nvSpPr>
          <p:cNvPr id="286" name="Google Shape;286;p57"/>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287" name="Google Shape;287;p57"/>
          <p:cNvSpPr txBox="1"/>
          <p:nvPr/>
        </p:nvSpPr>
        <p:spPr>
          <a:xfrm>
            <a:off x="466775" y="1512000"/>
            <a:ext cx="9418800" cy="3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US" sz="1200">
                <a:solidFill>
                  <a:schemeClr val="dk1"/>
                </a:solidFill>
              </a:rPr>
              <a:t>For the dashboard, 6 completely different data categories were used, all of which can be selected from the side menu:</a:t>
            </a:r>
            <a:endParaRPr b="1" sz="1100">
              <a:latin typeface="Catamaran"/>
              <a:ea typeface="Catamaran"/>
              <a:cs typeface="Catamaran"/>
              <a:sym typeface="Catamaran"/>
            </a:endParaRPr>
          </a:p>
          <a:p>
            <a:pPr indent="0" lvl="0" marL="0" marR="0" rtl="0" algn="l">
              <a:lnSpc>
                <a:spcPct val="115000"/>
              </a:lnSpc>
              <a:spcBef>
                <a:spcPts val="0"/>
              </a:spcBef>
              <a:spcAft>
                <a:spcPts val="0"/>
              </a:spcAft>
              <a:buNone/>
            </a:pPr>
            <a:r>
              <a:t/>
            </a:r>
            <a:endParaRPr b="1" sz="1100">
              <a:latin typeface="Catamaran"/>
              <a:ea typeface="Catamaran"/>
              <a:cs typeface="Catamaran"/>
              <a:sym typeface="Catamaran"/>
            </a:endParaRPr>
          </a:p>
          <a:p>
            <a:pPr indent="0" lvl="0" marL="0" marR="0" rtl="0" algn="l">
              <a:lnSpc>
                <a:spcPct val="115000"/>
              </a:lnSpc>
              <a:spcBef>
                <a:spcPts val="0"/>
              </a:spcBef>
              <a:spcAft>
                <a:spcPts val="0"/>
              </a:spcAft>
              <a:buNone/>
            </a:pPr>
            <a:r>
              <a:t/>
            </a:r>
            <a:endParaRPr b="1" sz="1100">
              <a:latin typeface="Catamaran"/>
              <a:ea typeface="Catamaran"/>
              <a:cs typeface="Catamaran"/>
              <a:sym typeface="Catamaran"/>
            </a:endParaRPr>
          </a:p>
          <a:p>
            <a:pPr indent="-324000" lvl="0" marL="432000" marR="0" rtl="0" algn="l">
              <a:lnSpc>
                <a:spcPct val="115000"/>
              </a:lnSpc>
              <a:spcBef>
                <a:spcPts val="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Unconstrained Data</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Heterogeneous values </a:t>
            </a:r>
            <a:r>
              <a:rPr b="1" lang="en-US" sz="1100">
                <a:solidFill>
                  <a:schemeClr val="dk1"/>
                </a:solidFill>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a:t>
            </a:r>
            <a:r>
              <a:rPr b="1" lang="en-US" sz="1100">
                <a:solidFill>
                  <a:schemeClr val="dk1"/>
                </a:solidFill>
                <a:highlight>
                  <a:srgbClr val="FFFFFF"/>
                </a:highlight>
                <a:latin typeface="Catamaran"/>
                <a:ea typeface="Catamaran"/>
                <a:cs typeface="Catamaran"/>
                <a:sym typeface="Catamaran"/>
              </a:rPr>
              <a:t>RadViz</a:t>
            </a:r>
            <a:r>
              <a:rPr lang="en-US" sz="1100">
                <a:solidFill>
                  <a:schemeClr val="dk1"/>
                </a:solidFill>
                <a:highlight>
                  <a:srgbClr val="FFFFFF"/>
                </a:highlight>
                <a:latin typeface="Catamaran"/>
                <a:ea typeface="Catamaran"/>
                <a:cs typeface="Catamaran"/>
                <a:sym typeface="Catamaran"/>
              </a:rPr>
              <a:t> </a:t>
            </a:r>
            <a:r>
              <a:rPr b="1" lang="en-US" sz="1100">
                <a:solidFill>
                  <a:schemeClr val="dk1"/>
                </a:solidFill>
                <a:highlight>
                  <a:srgbClr val="FFFFFF"/>
                </a:highlight>
                <a:latin typeface="Catamaran"/>
                <a:ea typeface="Catamaran"/>
                <a:cs typeface="Catamaran"/>
                <a:sym typeface="Catamaran"/>
              </a:rPr>
              <a:t>not suitable</a:t>
            </a:r>
            <a:r>
              <a:rPr lang="en-US" sz="1100">
                <a:solidFill>
                  <a:schemeClr val="dk1"/>
                </a:solidFill>
                <a:highlight>
                  <a:srgbClr val="FFFFFF"/>
                </a:highlight>
                <a:latin typeface="Catamaran"/>
                <a:ea typeface="Catamaran"/>
                <a:cs typeface="Catamaran"/>
                <a:sym typeface="Catamaran"/>
              </a:rPr>
              <a:t>)</a:t>
            </a:r>
            <a:endParaRPr sz="1000" strike="noStrike">
              <a:solidFill>
                <a:schemeClr val="dk1"/>
              </a:solidFill>
              <a:latin typeface="Catamaran"/>
              <a:ea typeface="Catamaran"/>
              <a:cs typeface="Catamaran"/>
              <a:sym typeface="Catamaran"/>
            </a:endParaRPr>
          </a:p>
          <a:p>
            <a:pPr indent="-324000" lvl="0" marL="432000"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Unconstrained Positive Data</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Only positive values</a:t>
            </a:r>
            <a:r>
              <a:rPr b="1" lang="en-US" sz="1100">
                <a:solidFill>
                  <a:schemeClr val="dk1"/>
                </a:solidFill>
                <a:latin typeface="Catamaran"/>
                <a:ea typeface="Catamaran"/>
                <a:cs typeface="Catamaran"/>
                <a:sym typeface="Catamaran"/>
              </a:rPr>
              <a:t> </a:t>
            </a:r>
            <a:r>
              <a:rPr b="1" lang="en-US" sz="1100">
                <a:solidFill>
                  <a:schemeClr val="dk1"/>
                </a:solidFill>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File: “</a:t>
            </a:r>
            <a:r>
              <a:rPr i="1" lang="en-US" sz="1100">
                <a:solidFill>
                  <a:srgbClr val="1F2328"/>
                </a:solidFill>
                <a:latin typeface="Catamaran"/>
                <a:ea typeface="Catamaran"/>
                <a:cs typeface="Catamaran"/>
                <a:sym typeface="Catamaran"/>
              </a:rPr>
              <a:t>dati_caso2_vini.csv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not recommended</a:t>
            </a:r>
            <a:r>
              <a:rPr lang="en-US" sz="1100">
                <a:solidFill>
                  <a:srgbClr val="1F2328"/>
                </a:solidFill>
                <a:latin typeface="Catamaran"/>
                <a:ea typeface="Catamaran"/>
                <a:cs typeface="Catamaran"/>
                <a:sym typeface="Catamaran"/>
              </a:rPr>
              <a:t>)</a:t>
            </a:r>
            <a:endParaRPr sz="1100" strike="noStrike">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Fixed Active Domains</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a:t>
            </a:r>
            <a:r>
              <a:rPr b="1" lang="en-US" sz="1100">
                <a:latin typeface="Catamaran"/>
                <a:ea typeface="Catamaran"/>
                <a:cs typeface="Catamaran"/>
                <a:sym typeface="Catamaran"/>
              </a:rPr>
              <a:t> </a:t>
            </a:r>
            <a:r>
              <a:rPr lang="en-US" sz="1100">
                <a:solidFill>
                  <a:schemeClr val="dk1"/>
                </a:solidFill>
                <a:highlight>
                  <a:srgbClr val="FFFFFF"/>
                </a:highlight>
                <a:latin typeface="Catamaran"/>
                <a:ea typeface="Catamaran"/>
                <a:cs typeface="Catamaran"/>
                <a:sym typeface="Catamaran"/>
              </a:rPr>
              <a:t>Predefined ranges (e.g., SAT 400-1600)</a:t>
            </a:r>
            <a:r>
              <a:rPr b="1" lang="en-US" sz="1100">
                <a:solidFill>
                  <a:schemeClr val="dk1"/>
                </a:solidFill>
                <a:latin typeface="Catamaran"/>
                <a:ea typeface="Catamaran"/>
                <a:cs typeface="Catamaran"/>
                <a:sym typeface="Catamaran"/>
              </a:rPr>
              <a:t> </a:t>
            </a:r>
            <a:r>
              <a:rPr b="1" lang="en-US" sz="1100">
                <a:solidFill>
                  <a:schemeClr val="dk1"/>
                </a:solidFill>
                <a:latin typeface="Catamaran"/>
                <a:ea typeface="Catamaran"/>
                <a:cs typeface="Catamaran"/>
                <a:sym typeface="Catamaran"/>
              </a:rPr>
              <a:t>→ </a:t>
            </a:r>
            <a:r>
              <a:rPr lang="en-US" sz="1100">
                <a:solidFill>
                  <a:schemeClr val="dk1"/>
                </a:solidFill>
                <a:latin typeface="Catamaran"/>
                <a:ea typeface="Catamaran"/>
                <a:cs typeface="Catamaran"/>
                <a:sym typeface="Catamaran"/>
              </a:rPr>
              <a:t>File: </a:t>
            </a:r>
            <a:r>
              <a:rPr lang="en-US" sz="1100">
                <a:solidFill>
                  <a:srgbClr val="1F2328"/>
                </a:solidFill>
                <a:latin typeface="Catamaran"/>
                <a:ea typeface="Catamaran"/>
                <a:cs typeface="Catamaran"/>
                <a:sym typeface="Catamaran"/>
              </a:rPr>
              <a:t>“</a:t>
            </a:r>
            <a:r>
              <a:rPr i="1" lang="en-US" sz="1100">
                <a:solidFill>
                  <a:srgbClr val="1F2328"/>
                </a:solidFill>
                <a:latin typeface="Catamaran"/>
                <a:ea typeface="Catamaran"/>
                <a:cs typeface="Catamaran"/>
                <a:sym typeface="Catamaran"/>
              </a:rPr>
              <a:t>dati_caso3_specifiche_auto.csv</a:t>
            </a:r>
            <a:r>
              <a:rPr lang="en-US" sz="1100">
                <a:solidFill>
                  <a:srgbClr val="1F2328"/>
                </a:solidFill>
                <a:latin typeface="Catamaran"/>
                <a:ea typeface="Catamaran"/>
                <a:cs typeface="Catamaran"/>
                <a:sym typeface="Catamaran"/>
              </a:rPr>
              <a:t>” </a:t>
            </a:r>
            <a:r>
              <a:rPr b="1" lang="en-US" sz="1100">
                <a:solidFill>
                  <a:schemeClr val="dk1"/>
                </a:solidFill>
                <a:latin typeface="Catamaran"/>
                <a:ea typeface="Catamaran"/>
                <a:cs typeface="Catamaran"/>
                <a:sym typeface="Catamaran"/>
              </a:rPr>
              <a:t> </a:t>
            </a:r>
            <a:r>
              <a:rPr lang="en-US" sz="1100">
                <a:solidFill>
                  <a:srgbClr val="1F2328"/>
                </a:solidFill>
                <a:latin typeface="Catamaran"/>
                <a:ea typeface="Catamaran"/>
                <a:cs typeface="Catamaran"/>
                <a:sym typeface="Catamaran"/>
              </a:rPr>
              <a:t>(</a:t>
            </a:r>
            <a:r>
              <a:rPr b="1" lang="en-US" sz="1100">
                <a:solidFill>
                  <a:srgbClr val="1F2328"/>
                </a:solidFill>
                <a:latin typeface="Catamaran"/>
                <a:ea typeface="Catamaran"/>
                <a:cs typeface="Catamaran"/>
                <a:sym typeface="Catamaran"/>
              </a:rPr>
              <a:t>RadViz has</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limited usefulness</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a:solidFill>
                  <a:schemeClr val="dk1"/>
                </a:solidFill>
                <a:latin typeface="Catamaran"/>
                <a:ea typeface="Catamaran"/>
                <a:cs typeface="Catamaran"/>
                <a:sym typeface="Catamaran"/>
              </a:rPr>
              <a:t>“</a:t>
            </a:r>
            <a:r>
              <a:rPr b="1" lang="en-US" sz="1100">
                <a:solidFill>
                  <a:schemeClr val="dk1"/>
                </a:solidFill>
                <a:latin typeface="Catamaran"/>
                <a:ea typeface="Catamaran"/>
                <a:cs typeface="Catamaran"/>
                <a:sym typeface="Catamaran"/>
              </a:rPr>
              <a:t>Fixed &amp; Common Active Domains” → </a:t>
            </a:r>
            <a:r>
              <a:rPr lang="en-US" sz="1100">
                <a:solidFill>
                  <a:schemeClr val="dk1"/>
                </a:solidFill>
                <a:highlight>
                  <a:srgbClr val="FFFFFF"/>
                </a:highlight>
                <a:latin typeface="Catamaran"/>
                <a:ea typeface="Catamaran"/>
                <a:cs typeface="Catamaran"/>
                <a:sym typeface="Catamaran"/>
              </a:rPr>
              <a:t>Same scale (e.g., 18-30)</a:t>
            </a:r>
            <a:r>
              <a:rPr b="1" lang="en-US" sz="1100">
                <a:solidFill>
                  <a:schemeClr val="dk1"/>
                </a:solidFill>
                <a:latin typeface="Catamaran"/>
                <a:ea typeface="Catamaran"/>
                <a:cs typeface="Catamaran"/>
                <a:sym typeface="Catamaran"/>
              </a:rPr>
              <a:t> → </a:t>
            </a:r>
            <a:r>
              <a:rPr lang="en-US" sz="1100">
                <a:solidFill>
                  <a:schemeClr val="dk1"/>
                </a:solidFill>
                <a:latin typeface="Catamaran"/>
                <a:ea typeface="Catamaran"/>
                <a:cs typeface="Catamaran"/>
                <a:sym typeface="Catamaran"/>
              </a:rPr>
              <a:t>File: “</a:t>
            </a:r>
            <a:r>
              <a:rPr i="1" lang="en-US" sz="1100">
                <a:solidFill>
                  <a:schemeClr val="dk1"/>
                </a:solidFill>
                <a:latin typeface="Catamaran"/>
                <a:ea typeface="Catamaran"/>
                <a:cs typeface="Catamaran"/>
                <a:sym typeface="Catamaran"/>
              </a:rPr>
              <a:t>dati_caso</a:t>
            </a:r>
            <a:r>
              <a:rPr i="1" lang="en-US" sz="1100">
                <a:solidFill>
                  <a:srgbClr val="1F2328"/>
                </a:solidFill>
                <a:latin typeface="Catamaran"/>
                <a:ea typeface="Catamaran"/>
                <a:cs typeface="Catamaran"/>
                <a:sym typeface="Catamaran"/>
              </a:rPr>
              <a:t>4_voti_universitari.csv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is useful</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a:latin typeface="Catamaran"/>
                <a:ea typeface="Catamaran"/>
                <a:cs typeface="Catamaran"/>
                <a:sym typeface="Catamaran"/>
              </a:rPr>
              <a:t>“</a:t>
            </a:r>
            <a:r>
              <a:rPr b="1" lang="en-US" sz="1100">
                <a:solidFill>
                  <a:schemeClr val="dk1"/>
                </a:solidFill>
                <a:latin typeface="Catamaran"/>
                <a:ea typeface="Catamaran"/>
                <a:cs typeface="Catamaran"/>
                <a:sym typeface="Catamaran"/>
              </a:rPr>
              <a:t>[0,1]</a:t>
            </a:r>
            <a:r>
              <a:rPr b="1" lang="en-US" sz="1100">
                <a:solidFill>
                  <a:schemeClr val="dk1"/>
                </a:solidFill>
                <a:latin typeface="Catamaran"/>
                <a:ea typeface="Catamaran"/>
                <a:cs typeface="Catamaran"/>
                <a:sym typeface="Catamaran"/>
              </a:rPr>
              <a:t> Domain Data” → </a:t>
            </a:r>
            <a:r>
              <a:rPr lang="en-US" sz="1100">
                <a:solidFill>
                  <a:schemeClr val="dk1"/>
                </a:solidFill>
                <a:highlight>
                  <a:srgbClr val="FFFFFF"/>
                </a:highlight>
                <a:latin typeface="Catamaran"/>
                <a:ea typeface="Catamaran"/>
                <a:cs typeface="Catamaran"/>
                <a:sym typeface="Catamaran"/>
              </a:rPr>
              <a:t>Pre-normalized (e.g., percentages)</a:t>
            </a:r>
            <a:r>
              <a:rPr b="1" lang="en-US" sz="1100">
                <a:solidFill>
                  <a:schemeClr val="dk1"/>
                </a:solidFill>
                <a:latin typeface="Catamaran"/>
                <a:ea typeface="Catamaran"/>
                <a:cs typeface="Catamaran"/>
                <a:sym typeface="Catamaran"/>
              </a:rPr>
              <a:t> → </a:t>
            </a:r>
            <a:r>
              <a:rPr lang="en-US" sz="1100">
                <a:solidFill>
                  <a:schemeClr val="dk1"/>
                </a:solidFill>
                <a:latin typeface="Catamaran"/>
                <a:ea typeface="Catamaran"/>
                <a:cs typeface="Catamaran"/>
                <a:sym typeface="Catamaran"/>
              </a:rPr>
              <a:t>File: “</a:t>
            </a:r>
            <a:r>
              <a:rPr i="1" lang="en-US" sz="1100">
                <a:solidFill>
                  <a:schemeClr val="dk1"/>
                </a:solidFill>
                <a:latin typeface="Catamaran"/>
                <a:ea typeface="Catamaran"/>
                <a:cs typeface="Catamaran"/>
                <a:sym typeface="Catamaran"/>
              </a:rPr>
              <a:t>dati_caso</a:t>
            </a:r>
            <a:r>
              <a:rPr i="1" lang="en-US" sz="1100">
                <a:solidFill>
                  <a:srgbClr val="1F2328"/>
                </a:solidFill>
                <a:latin typeface="Catamaran"/>
                <a:ea typeface="Catamaran"/>
                <a:cs typeface="Catamaran"/>
                <a:sym typeface="Catamaran"/>
              </a:rPr>
              <a:t>5_salute_ambientale.csv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is an excellent tool</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323999" lvl="0" marL="431999" marR="0" rtl="0" algn="l">
              <a:lnSpc>
                <a:spcPct val="115000"/>
              </a:lnSpc>
              <a:spcBef>
                <a:spcPts val="850"/>
              </a:spcBef>
              <a:spcAft>
                <a:spcPts val="0"/>
              </a:spcAft>
              <a:buClr>
                <a:srgbClr val="000000"/>
              </a:buClr>
              <a:buSzPts val="495"/>
              <a:buFont typeface="Noto Sans Symbols"/>
              <a:buChar char="●"/>
            </a:pPr>
            <a:r>
              <a:rPr b="1" lang="en-US" sz="1100">
                <a:latin typeface="Catamaran"/>
                <a:ea typeface="Catamaran"/>
                <a:cs typeface="Catamaran"/>
                <a:sym typeface="Catamaran"/>
              </a:rPr>
              <a:t>“</a:t>
            </a:r>
            <a:r>
              <a:rPr b="1" lang="en-US" sz="1100">
                <a:solidFill>
                  <a:schemeClr val="dk1"/>
                </a:solidFill>
                <a:latin typeface="Catamaran"/>
                <a:ea typeface="Catamaran"/>
                <a:cs typeface="Catamaran"/>
                <a:sym typeface="Catamaran"/>
              </a:rPr>
              <a:t>Partition Data” → </a:t>
            </a:r>
            <a:r>
              <a:rPr lang="en-US" sz="1100">
                <a:solidFill>
                  <a:schemeClr val="dk1"/>
                </a:solidFill>
                <a:highlight>
                  <a:srgbClr val="FFFFFF"/>
                </a:highlight>
                <a:latin typeface="Catamaran"/>
                <a:ea typeface="Catamaran"/>
                <a:cs typeface="Catamaran"/>
                <a:sym typeface="Catamaran"/>
              </a:rPr>
              <a:t>Sums to 1 (100%)</a:t>
            </a:r>
            <a:r>
              <a:rPr b="1" lang="en-US" sz="1100">
                <a:solidFill>
                  <a:schemeClr val="dk1"/>
                </a:solidFill>
                <a:latin typeface="Catamaran"/>
                <a:ea typeface="Catamaran"/>
                <a:cs typeface="Catamaran"/>
                <a:sym typeface="Catamaran"/>
              </a:rPr>
              <a:t> → </a:t>
            </a:r>
            <a:r>
              <a:rPr lang="en-US" sz="1100">
                <a:solidFill>
                  <a:schemeClr val="dk1"/>
                </a:solidFill>
                <a:latin typeface="Catamaran"/>
                <a:ea typeface="Catamaran"/>
                <a:cs typeface="Catamaran"/>
                <a:sym typeface="Catamaran"/>
              </a:rPr>
              <a:t>File: “</a:t>
            </a:r>
            <a:r>
              <a:rPr i="1" lang="en-US" sz="1100">
                <a:solidFill>
                  <a:schemeClr val="dk1"/>
                </a:solidFill>
                <a:latin typeface="Catamaran"/>
                <a:ea typeface="Catamaran"/>
                <a:cs typeface="Catamaran"/>
                <a:sym typeface="Catamaran"/>
              </a:rPr>
              <a:t>dati_caso</a:t>
            </a:r>
            <a:r>
              <a:rPr i="1" lang="en-US" sz="1100">
                <a:solidFill>
                  <a:srgbClr val="1F2328"/>
                </a:solidFill>
                <a:latin typeface="Catamaran"/>
                <a:ea typeface="Catamaran"/>
                <a:cs typeface="Catamaran"/>
                <a:sym typeface="Catamaran"/>
              </a:rPr>
              <a:t>6_elezioni.csv</a:t>
            </a:r>
            <a:r>
              <a:rPr lang="en-US" sz="1100">
                <a:solidFill>
                  <a:srgbClr val="1F2328"/>
                </a:solidFill>
                <a:latin typeface="Catamaran"/>
                <a:ea typeface="Catamaran"/>
                <a:cs typeface="Catamaran"/>
                <a:sym typeface="Catamaran"/>
              </a:rPr>
              <a:t>” (</a:t>
            </a:r>
            <a:r>
              <a:rPr b="1" lang="en-US" sz="1100">
                <a:solidFill>
                  <a:srgbClr val="1F2328"/>
                </a:solidFill>
                <a:latin typeface="Catamaran"/>
                <a:ea typeface="Catamaran"/>
                <a:cs typeface="Catamaran"/>
                <a:sym typeface="Catamaran"/>
              </a:rPr>
              <a:t>RadViz is an ideal tool</a:t>
            </a:r>
            <a:r>
              <a:rPr lang="en-US" sz="1100">
                <a:solidFill>
                  <a:srgbClr val="1F2328"/>
                </a:solidFill>
                <a:latin typeface="Catamaran"/>
                <a:ea typeface="Catamaran"/>
                <a:cs typeface="Catamaran"/>
                <a:sym typeface="Catamaran"/>
              </a:rPr>
              <a:t>)</a:t>
            </a:r>
            <a:endParaRPr sz="1100">
              <a:solidFill>
                <a:schemeClr val="dk1"/>
              </a:solidFill>
              <a:latin typeface="Catamaran"/>
              <a:ea typeface="Catamaran"/>
              <a:cs typeface="Catamaran"/>
              <a:sym typeface="Catamaran"/>
            </a:endParaRPr>
          </a:p>
          <a:p>
            <a:pPr indent="0" lvl="0" marL="457200" marR="0" rtl="0" algn="l">
              <a:lnSpc>
                <a:spcPct val="115000"/>
              </a:lnSpc>
              <a:spcBef>
                <a:spcPts val="850"/>
              </a:spcBef>
              <a:spcAft>
                <a:spcPts val="0"/>
              </a:spcAft>
              <a:buNone/>
            </a:pPr>
            <a:r>
              <a:t/>
            </a:r>
            <a:endParaRPr sz="1100">
              <a:latin typeface="Catamaran"/>
              <a:ea typeface="Catamaran"/>
              <a:cs typeface="Catamaran"/>
              <a:sym typeface="Catamaran"/>
            </a:endParaRPr>
          </a:p>
          <a:p>
            <a:pPr indent="0" lvl="0" marL="457200" marR="0" rtl="0" algn="l">
              <a:lnSpc>
                <a:spcPct val="115000"/>
              </a:lnSpc>
              <a:spcBef>
                <a:spcPts val="850"/>
              </a:spcBef>
              <a:spcAft>
                <a:spcPts val="0"/>
              </a:spcAft>
              <a:buNone/>
            </a:pPr>
            <a:r>
              <a:t/>
            </a:r>
            <a:endParaRPr sz="1100">
              <a:latin typeface="Catamaran"/>
              <a:ea typeface="Catamaran"/>
              <a:cs typeface="Catamaran"/>
              <a:sym typeface="Catamar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8"/>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293" name="Google Shape;293;p58"/>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Complete Dashboard</a:t>
            </a:r>
            <a:endParaRPr b="0" sz="1400" strike="noStrike">
              <a:solidFill>
                <a:srgbClr val="000000"/>
              </a:solidFill>
              <a:latin typeface="Arial"/>
              <a:ea typeface="Arial"/>
              <a:cs typeface="Arial"/>
              <a:sym typeface="Arial"/>
            </a:endParaRPr>
          </a:p>
        </p:txBody>
      </p:sp>
      <p:sp>
        <p:nvSpPr>
          <p:cNvPr id="294" name="Google Shape;294;p58"/>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295" name="Google Shape;295;p58" title="Foto Dashboard.jpg"/>
          <p:cNvPicPr preferRelativeResize="0"/>
          <p:nvPr/>
        </p:nvPicPr>
        <p:blipFill>
          <a:blip r:embed="rId3">
            <a:alphaModFix/>
          </a:blip>
          <a:stretch>
            <a:fillRect/>
          </a:stretch>
        </p:blipFill>
        <p:spPr>
          <a:xfrm>
            <a:off x="1287825" y="1512000"/>
            <a:ext cx="6698001" cy="317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9"/>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301" name="Google Shape;301;p59"/>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RadViz</a:t>
            </a:r>
            <a:endParaRPr b="0" sz="1400" strike="noStrike">
              <a:solidFill>
                <a:srgbClr val="000000"/>
              </a:solidFill>
              <a:latin typeface="Arial"/>
              <a:ea typeface="Arial"/>
              <a:cs typeface="Arial"/>
              <a:sym typeface="Arial"/>
            </a:endParaRPr>
          </a:p>
        </p:txBody>
      </p:sp>
      <p:sp>
        <p:nvSpPr>
          <p:cNvPr id="302" name="Google Shape;302;p59"/>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303" name="Google Shape;303;p59"/>
          <p:cNvSpPr txBox="1"/>
          <p:nvPr/>
        </p:nvSpPr>
        <p:spPr>
          <a:xfrm>
            <a:off x="943125" y="1699950"/>
            <a:ext cx="3994800" cy="2024400"/>
          </a:xfrm>
          <a:prstGeom prst="rect">
            <a:avLst/>
          </a:prstGeom>
          <a:noFill/>
          <a:ln>
            <a:noFill/>
          </a:ln>
        </p:spPr>
        <p:txBody>
          <a:bodyPr anchorCtr="0" anchor="t" bIns="91425" lIns="91425" spcFirstLastPara="1" rIns="91425" wrap="square" tIns="91425">
            <a:noAutofit/>
          </a:bodyPr>
          <a:lstStyle/>
          <a:p>
            <a:pPr indent="-362100" lvl="0" marL="432000" marR="0" rtl="0" algn="l">
              <a:lnSpc>
                <a:spcPct val="115000"/>
              </a:lnSpc>
              <a:spcBef>
                <a:spcPts val="0"/>
              </a:spcBef>
              <a:spcAft>
                <a:spcPts val="0"/>
              </a:spcAft>
              <a:buClr>
                <a:srgbClr val="000000"/>
              </a:buClr>
              <a:buSzPts val="1095"/>
              <a:buFont typeface="Noto Sans Symbols"/>
              <a:buChar char="●"/>
            </a:pPr>
            <a:r>
              <a:rPr lang="en-US" sz="1100">
                <a:latin typeface="Catamaran"/>
                <a:ea typeface="Catamaran"/>
                <a:cs typeface="Catamaran"/>
                <a:sym typeface="Catamaran"/>
              </a:rPr>
              <a:t>Used for visualizing </a:t>
            </a:r>
            <a:r>
              <a:rPr b="1" lang="en-US" sz="1100">
                <a:latin typeface="Catamaran"/>
                <a:ea typeface="Catamaran"/>
                <a:cs typeface="Catamaran"/>
                <a:sym typeface="Catamaran"/>
              </a:rPr>
              <a:t>high-dimensional data</a:t>
            </a:r>
            <a:r>
              <a:rPr lang="en-US" sz="1100">
                <a:latin typeface="Catamaran"/>
                <a:ea typeface="Catamaran"/>
                <a:cs typeface="Catamaran"/>
                <a:sym typeface="Catamaran"/>
              </a:rPr>
              <a:t> in two dimensions</a:t>
            </a:r>
            <a:endParaRPr b="0" sz="1100" strike="noStrike">
              <a:solidFill>
                <a:srgbClr val="000000"/>
              </a:solidFill>
              <a:latin typeface="Arial"/>
              <a:ea typeface="Arial"/>
              <a:cs typeface="Arial"/>
              <a:sym typeface="Arial"/>
            </a:endParaRPr>
          </a:p>
          <a:p>
            <a:pPr indent="-362100" lvl="0" marL="432000" marR="0" rtl="0" algn="l">
              <a:lnSpc>
                <a:spcPct val="115000"/>
              </a:lnSpc>
              <a:spcBef>
                <a:spcPts val="850"/>
              </a:spcBef>
              <a:spcAft>
                <a:spcPts val="0"/>
              </a:spcAft>
              <a:buClr>
                <a:srgbClr val="000000"/>
              </a:buClr>
              <a:buSzPts val="1095"/>
              <a:buFont typeface="Noto Sans Symbols"/>
              <a:buChar char="●"/>
            </a:pPr>
            <a:r>
              <a:rPr lang="en-US" sz="1100">
                <a:latin typeface="Catamaran"/>
                <a:ea typeface="Catamaran"/>
                <a:cs typeface="Catamaran"/>
                <a:sym typeface="Catamaran"/>
              </a:rPr>
              <a:t>Each variable is represented as an </a:t>
            </a:r>
            <a:r>
              <a:rPr b="1" lang="en-US" sz="1100">
                <a:latin typeface="Catamaran"/>
                <a:ea typeface="Catamaran"/>
                <a:cs typeface="Catamaran"/>
                <a:sym typeface="Catamaran"/>
              </a:rPr>
              <a:t>anchor</a:t>
            </a:r>
            <a:r>
              <a:rPr lang="en-US" sz="1100">
                <a:latin typeface="Catamaran"/>
                <a:ea typeface="Catamaran"/>
                <a:cs typeface="Catamaran"/>
                <a:sym typeface="Catamaran"/>
              </a:rPr>
              <a:t> placed evenly around a circle</a:t>
            </a:r>
            <a:endParaRPr b="0" sz="1100" strike="noStrike">
              <a:solidFill>
                <a:srgbClr val="000000"/>
              </a:solidFill>
              <a:latin typeface="Arial"/>
              <a:ea typeface="Arial"/>
              <a:cs typeface="Arial"/>
              <a:sym typeface="Arial"/>
            </a:endParaRPr>
          </a:p>
          <a:p>
            <a:pPr indent="-362100" lvl="0" marL="432000" marR="0" rtl="0" algn="l">
              <a:lnSpc>
                <a:spcPct val="115000"/>
              </a:lnSpc>
              <a:spcBef>
                <a:spcPts val="850"/>
              </a:spcBef>
              <a:spcAft>
                <a:spcPts val="0"/>
              </a:spcAft>
              <a:buClr>
                <a:srgbClr val="000000"/>
              </a:buClr>
              <a:buSzPts val="1095"/>
              <a:buFont typeface="Noto Sans Symbols"/>
              <a:buChar char="●"/>
            </a:pPr>
            <a:r>
              <a:rPr lang="en-US" sz="1100">
                <a:latin typeface="Catamaran"/>
                <a:ea typeface="Catamaran"/>
                <a:cs typeface="Catamaran"/>
                <a:sym typeface="Catamaran"/>
              </a:rPr>
              <a:t>Data points are positioned based on the </a:t>
            </a:r>
            <a:r>
              <a:rPr b="1" lang="en-US" sz="1100">
                <a:latin typeface="Catamaran"/>
                <a:ea typeface="Catamaran"/>
                <a:cs typeface="Catamaran"/>
                <a:sym typeface="Catamaran"/>
              </a:rPr>
              <a:t>relative influence</a:t>
            </a:r>
            <a:r>
              <a:rPr lang="en-US" sz="1100">
                <a:latin typeface="Catamaran"/>
                <a:ea typeface="Catamaran"/>
                <a:cs typeface="Catamaran"/>
                <a:sym typeface="Catamaran"/>
              </a:rPr>
              <a:t> of all variables</a:t>
            </a:r>
            <a:endParaRPr b="0" sz="1100" strike="noStrike">
              <a:solidFill>
                <a:srgbClr val="000000"/>
              </a:solidFill>
              <a:latin typeface="Arial"/>
              <a:ea typeface="Arial"/>
              <a:cs typeface="Arial"/>
              <a:sym typeface="Arial"/>
            </a:endParaRPr>
          </a:p>
          <a:p>
            <a:pPr indent="-362099" lvl="0" marL="431999" marR="0" rtl="0" algn="l">
              <a:lnSpc>
                <a:spcPct val="115000"/>
              </a:lnSpc>
              <a:spcBef>
                <a:spcPts val="850"/>
              </a:spcBef>
              <a:spcAft>
                <a:spcPts val="0"/>
              </a:spcAft>
              <a:buClr>
                <a:srgbClr val="000000"/>
              </a:buClr>
              <a:buSzPts val="1095"/>
              <a:buFont typeface="Noto Sans Symbols"/>
              <a:buChar char="●"/>
            </a:pPr>
            <a:r>
              <a:rPr lang="en-US" sz="1100">
                <a:latin typeface="Catamaran"/>
                <a:ea typeface="Catamaran"/>
                <a:cs typeface="Catamaran"/>
                <a:sym typeface="Catamaran"/>
              </a:rPr>
              <a:t>Helps reveal patterns, clusters, and data spread in a compact view</a:t>
            </a:r>
            <a:endParaRPr b="0" sz="1100" strike="noStrike">
              <a:solidFill>
                <a:srgbClr val="000000"/>
              </a:solidFill>
              <a:latin typeface="Arial"/>
              <a:ea typeface="Arial"/>
              <a:cs typeface="Arial"/>
              <a:sym typeface="Arial"/>
            </a:endParaRPr>
          </a:p>
          <a:p>
            <a:pPr indent="-362099" lvl="0" marL="431999" marR="0" rtl="0" algn="l">
              <a:lnSpc>
                <a:spcPct val="115000"/>
              </a:lnSpc>
              <a:spcBef>
                <a:spcPts val="850"/>
              </a:spcBef>
              <a:spcAft>
                <a:spcPts val="0"/>
              </a:spcAft>
              <a:buClr>
                <a:srgbClr val="000000"/>
              </a:buClr>
              <a:buSzPts val="1095"/>
              <a:buFont typeface="Noto Sans Symbols"/>
              <a:buChar char="●"/>
            </a:pPr>
            <a:r>
              <a:rPr lang="en-US" sz="1100">
                <a:solidFill>
                  <a:schemeClr val="dk1"/>
                </a:solidFill>
                <a:latin typeface="Catamaran"/>
                <a:ea typeface="Catamaran"/>
                <a:cs typeface="Catamaran"/>
                <a:sym typeface="Catamaran"/>
              </a:rPr>
              <a:t>Suitable for datasets with </a:t>
            </a:r>
            <a:r>
              <a:rPr b="1" lang="en-US" sz="1100">
                <a:solidFill>
                  <a:schemeClr val="dk1"/>
                </a:solidFill>
                <a:latin typeface="Catamaran"/>
                <a:ea typeface="Catamaran"/>
                <a:cs typeface="Catamaran"/>
                <a:sym typeface="Catamaran"/>
              </a:rPr>
              <a:t>comparable variables</a:t>
            </a:r>
            <a:endParaRPr sz="1100">
              <a:latin typeface="Catamaran"/>
              <a:ea typeface="Catamaran"/>
              <a:cs typeface="Catamaran"/>
              <a:sym typeface="Catamaran"/>
            </a:endParaRPr>
          </a:p>
          <a:p>
            <a:pPr indent="-292567" lvl="0" marL="432000" marR="0" rtl="0" algn="l">
              <a:lnSpc>
                <a:spcPct val="115000"/>
              </a:lnSpc>
              <a:spcBef>
                <a:spcPts val="850"/>
              </a:spcBef>
              <a:spcAft>
                <a:spcPts val="0"/>
              </a:spcAft>
              <a:buClr>
                <a:srgbClr val="000000"/>
              </a:buClr>
              <a:buSzPts val="495"/>
              <a:buFont typeface="Noto Sans Symbols"/>
              <a:buNone/>
            </a:pPr>
            <a:r>
              <a:t/>
            </a:r>
            <a:endParaRPr b="0" sz="1100" strike="noStrike">
              <a:solidFill>
                <a:srgbClr val="000000"/>
              </a:solidFill>
              <a:latin typeface="Arial"/>
              <a:ea typeface="Arial"/>
              <a:cs typeface="Arial"/>
              <a:sym typeface="Arial"/>
            </a:endParaRPr>
          </a:p>
        </p:txBody>
      </p:sp>
      <p:pic>
        <p:nvPicPr>
          <p:cNvPr id="304" name="Google Shape;304;p59" title="Screenshot 2025-07-18 alle 16.21.04.png"/>
          <p:cNvPicPr preferRelativeResize="0"/>
          <p:nvPr/>
        </p:nvPicPr>
        <p:blipFill>
          <a:blip r:embed="rId3">
            <a:alphaModFix/>
          </a:blip>
          <a:stretch>
            <a:fillRect/>
          </a:stretch>
        </p:blipFill>
        <p:spPr>
          <a:xfrm>
            <a:off x="4937760" y="1042416"/>
            <a:ext cx="3474300" cy="3586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0"/>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310" name="Google Shape;310;p60"/>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Small multiples pie chart</a:t>
            </a:r>
            <a:endParaRPr b="0" sz="1400" strike="noStrike">
              <a:solidFill>
                <a:srgbClr val="000000"/>
              </a:solidFill>
              <a:latin typeface="Arial"/>
              <a:ea typeface="Arial"/>
              <a:cs typeface="Arial"/>
              <a:sym typeface="Arial"/>
            </a:endParaRPr>
          </a:p>
        </p:txBody>
      </p:sp>
      <p:sp>
        <p:nvSpPr>
          <p:cNvPr id="311" name="Google Shape;311;p60"/>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312" name="Google Shape;312;p60" title="Screenshot 2025-07-18 alle 16.27.57.png"/>
          <p:cNvPicPr preferRelativeResize="0"/>
          <p:nvPr/>
        </p:nvPicPr>
        <p:blipFill>
          <a:blip r:embed="rId3">
            <a:alphaModFix/>
          </a:blip>
          <a:stretch>
            <a:fillRect/>
          </a:stretch>
        </p:blipFill>
        <p:spPr>
          <a:xfrm>
            <a:off x="3563374" y="1462813"/>
            <a:ext cx="5137828" cy="2498675"/>
          </a:xfrm>
          <a:prstGeom prst="rect">
            <a:avLst/>
          </a:prstGeom>
          <a:noFill/>
          <a:ln>
            <a:noFill/>
          </a:ln>
        </p:spPr>
      </p:pic>
      <p:sp>
        <p:nvSpPr>
          <p:cNvPr id="313" name="Google Shape;313;p60"/>
          <p:cNvSpPr txBox="1"/>
          <p:nvPr/>
        </p:nvSpPr>
        <p:spPr>
          <a:xfrm>
            <a:off x="851675" y="1699950"/>
            <a:ext cx="27117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pie chart represents a </a:t>
            </a:r>
            <a:r>
              <a:rPr b="1" lang="en-US" sz="1100">
                <a:latin typeface="Catamaran"/>
                <a:ea typeface="Catamaran"/>
                <a:cs typeface="Catamaran"/>
                <a:sym typeface="Catamaran"/>
              </a:rPr>
              <a:t>single observation</a:t>
            </a:r>
            <a:r>
              <a:rPr lang="en-US" sz="1100">
                <a:latin typeface="Catamaran"/>
                <a:ea typeface="Catamaran"/>
                <a:cs typeface="Catamaran"/>
                <a:sym typeface="Catamaran"/>
              </a:rPr>
              <a:t> positioned according to its Radviz coordinates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Makes it easy to </a:t>
            </a:r>
            <a:r>
              <a:rPr b="1" lang="en-US" sz="1100">
                <a:latin typeface="Catamaran"/>
                <a:ea typeface="Catamaran"/>
                <a:cs typeface="Catamaran"/>
                <a:sym typeface="Catamaran"/>
              </a:rPr>
              <a:t>compare data</a:t>
            </a:r>
            <a:r>
              <a:rPr lang="en-US" sz="1100">
                <a:latin typeface="Catamaran"/>
                <a:ea typeface="Catamaran"/>
                <a:cs typeface="Catamaran"/>
                <a:sym typeface="Catamaran"/>
              </a:rPr>
              <a:t> by its own divisions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Good for seeing how points with close positions might still have </a:t>
            </a:r>
            <a:r>
              <a:rPr b="1" lang="en-US" sz="1100">
                <a:latin typeface="Catamaran"/>
                <a:ea typeface="Catamaran"/>
                <a:cs typeface="Catamaran"/>
                <a:sym typeface="Catamaran"/>
              </a:rPr>
              <a:t>different variable distributions</a:t>
            </a:r>
            <a:endParaRPr b="1"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1"/>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319" name="Google Shape;319;p61"/>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Stacked bar chart</a:t>
            </a:r>
            <a:endParaRPr b="0" sz="1400" strike="noStrike">
              <a:solidFill>
                <a:srgbClr val="000000"/>
              </a:solidFill>
              <a:latin typeface="Arial"/>
              <a:ea typeface="Arial"/>
              <a:cs typeface="Arial"/>
              <a:sym typeface="Arial"/>
            </a:endParaRPr>
          </a:p>
        </p:txBody>
      </p:sp>
      <p:sp>
        <p:nvSpPr>
          <p:cNvPr id="320" name="Google Shape;320;p61"/>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321" name="Google Shape;321;p61" title="Screenshot 2025-07-18 alle 16.38.37.png"/>
          <p:cNvPicPr preferRelativeResize="0"/>
          <p:nvPr/>
        </p:nvPicPr>
        <p:blipFill>
          <a:blip r:embed="rId3">
            <a:alphaModFix/>
          </a:blip>
          <a:stretch>
            <a:fillRect/>
          </a:stretch>
        </p:blipFill>
        <p:spPr>
          <a:xfrm>
            <a:off x="4638285" y="1749790"/>
            <a:ext cx="4034642" cy="1924729"/>
          </a:xfrm>
          <a:prstGeom prst="rect">
            <a:avLst/>
          </a:prstGeom>
          <a:noFill/>
          <a:ln>
            <a:noFill/>
          </a:ln>
        </p:spPr>
      </p:pic>
      <p:sp>
        <p:nvSpPr>
          <p:cNvPr id="322" name="Google Shape;322;p61"/>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bar represents a </a:t>
            </a:r>
            <a:r>
              <a:rPr b="1" lang="en-US" sz="1100">
                <a:latin typeface="Catamaran"/>
                <a:ea typeface="Catamaran"/>
                <a:cs typeface="Catamaran"/>
                <a:sym typeface="Catamaran"/>
              </a:rPr>
              <a:t>single entity</a:t>
            </a:r>
            <a:r>
              <a:rPr lang="en-US" sz="1100">
                <a:latin typeface="Catamaran"/>
                <a:ea typeface="Catamaran"/>
                <a:cs typeface="Catamaran"/>
                <a:sym typeface="Catamaran"/>
              </a:rPr>
              <a:t> in the dataset</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The segments within each bar show </a:t>
            </a:r>
            <a:r>
              <a:rPr b="1" lang="en-US" sz="1100">
                <a:latin typeface="Catamaran"/>
                <a:ea typeface="Catamaran"/>
                <a:cs typeface="Catamaran"/>
                <a:sym typeface="Catamaran"/>
              </a:rPr>
              <a:t>how the total is divided </a:t>
            </a:r>
            <a:r>
              <a:rPr lang="en-US" sz="1100">
                <a:latin typeface="Catamaran"/>
                <a:ea typeface="Catamaran"/>
                <a:cs typeface="Catamaran"/>
                <a:sym typeface="Catamaran"/>
              </a:rPr>
              <a:t>across different categories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Useful for comparing </a:t>
            </a:r>
            <a:r>
              <a:rPr b="1" lang="en-US" sz="1100">
                <a:latin typeface="Catamaran"/>
                <a:ea typeface="Catamaran"/>
                <a:cs typeface="Catamaran"/>
                <a:sym typeface="Catamaran"/>
              </a:rPr>
              <a:t>both totals and internal composition </a:t>
            </a:r>
            <a:r>
              <a:rPr lang="en-US" sz="1100">
                <a:latin typeface="Catamaran"/>
                <a:ea typeface="Catamaran"/>
                <a:cs typeface="Catamaran"/>
                <a:sym typeface="Catamaran"/>
              </a:rPr>
              <a:t>between points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Ideal for visualizing proportional data that </a:t>
            </a:r>
            <a:r>
              <a:rPr b="1" lang="en-US" sz="1100">
                <a:latin typeface="Catamaran"/>
                <a:ea typeface="Catamaran"/>
                <a:cs typeface="Catamaran"/>
                <a:sym typeface="Catamaran"/>
              </a:rPr>
              <a:t>adds up to a whole</a:t>
            </a:r>
            <a:r>
              <a:rPr lang="en-US" sz="1100">
                <a:latin typeface="Catamaran"/>
                <a:ea typeface="Catamaran"/>
                <a:cs typeface="Catamaran"/>
                <a:sym typeface="Catamaran"/>
              </a:rPr>
              <a:t> (e.g. 100%)</a:t>
            </a:r>
            <a:endParaRPr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62"/>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Visualizations</a:t>
            </a:r>
            <a:endParaRPr b="0" sz="2200" strike="noStrike">
              <a:solidFill>
                <a:srgbClr val="000000"/>
              </a:solidFill>
              <a:latin typeface="Arial"/>
              <a:ea typeface="Arial"/>
              <a:cs typeface="Arial"/>
              <a:sym typeface="Arial"/>
            </a:endParaRPr>
          </a:p>
        </p:txBody>
      </p:sp>
      <p:sp>
        <p:nvSpPr>
          <p:cNvPr id="328" name="Google Shape;328;p62"/>
          <p:cNvSpPr txBox="1"/>
          <p:nvPr/>
        </p:nvSpPr>
        <p:spPr>
          <a:xfrm>
            <a:off x="735480" y="1051200"/>
            <a:ext cx="768840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i="1" lang="en-US">
                <a:solidFill>
                  <a:srgbClr val="595959"/>
                </a:solidFill>
                <a:latin typeface="Catamaran"/>
                <a:ea typeface="Catamaran"/>
                <a:cs typeface="Catamaran"/>
                <a:sym typeface="Catamaran"/>
              </a:rPr>
              <a:t>Radar chart</a:t>
            </a:r>
            <a:endParaRPr b="0" sz="1400" strike="noStrike">
              <a:solidFill>
                <a:srgbClr val="000000"/>
              </a:solidFill>
              <a:latin typeface="Arial"/>
              <a:ea typeface="Arial"/>
              <a:cs typeface="Arial"/>
              <a:sym typeface="Arial"/>
            </a:endParaRPr>
          </a:p>
        </p:txBody>
      </p:sp>
      <p:sp>
        <p:nvSpPr>
          <p:cNvPr id="329" name="Google Shape;329;p62"/>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pic>
        <p:nvPicPr>
          <p:cNvPr id="330" name="Google Shape;330;p62" title="Screenshot 2025-07-18 alle 16.44.31.png"/>
          <p:cNvPicPr preferRelativeResize="0"/>
          <p:nvPr/>
        </p:nvPicPr>
        <p:blipFill>
          <a:blip r:embed="rId3">
            <a:alphaModFix/>
          </a:blip>
          <a:stretch>
            <a:fillRect/>
          </a:stretch>
        </p:blipFill>
        <p:spPr>
          <a:xfrm>
            <a:off x="4831705" y="1245625"/>
            <a:ext cx="3861340" cy="2933038"/>
          </a:xfrm>
          <a:prstGeom prst="rect">
            <a:avLst/>
          </a:prstGeom>
          <a:noFill/>
          <a:ln>
            <a:noFill/>
          </a:ln>
        </p:spPr>
      </p:pic>
      <p:sp>
        <p:nvSpPr>
          <p:cNvPr id="331" name="Google Shape;331;p62"/>
          <p:cNvSpPr txBox="1"/>
          <p:nvPr/>
        </p:nvSpPr>
        <p:spPr>
          <a:xfrm>
            <a:off x="851675" y="1699950"/>
            <a:ext cx="3786600" cy="2024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850"/>
              </a:spcBef>
              <a:spcAft>
                <a:spcPts val="0"/>
              </a:spcAft>
              <a:buSzPts val="1100"/>
              <a:buFont typeface="Catamaran"/>
              <a:buChar char="●"/>
            </a:pPr>
            <a:r>
              <a:rPr lang="en-US" sz="1100">
                <a:latin typeface="Catamaran"/>
                <a:ea typeface="Catamaran"/>
                <a:cs typeface="Catamaran"/>
                <a:sym typeface="Catamaran"/>
              </a:rPr>
              <a:t>Each entity is shown as a bordered </a:t>
            </a:r>
            <a:r>
              <a:rPr b="1" lang="en-US" sz="1100">
                <a:latin typeface="Catamaran"/>
                <a:ea typeface="Catamaran"/>
                <a:cs typeface="Catamaran"/>
                <a:sym typeface="Catamaran"/>
              </a:rPr>
              <a:t>shape</a:t>
            </a:r>
            <a:r>
              <a:rPr lang="en-US" sz="1100">
                <a:latin typeface="Catamaran"/>
                <a:ea typeface="Catamaran"/>
                <a:cs typeface="Catamaran"/>
                <a:sym typeface="Catamaran"/>
              </a:rPr>
              <a:t> connecting its values across multiple variables</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Variables are arranged as </a:t>
            </a:r>
            <a:r>
              <a:rPr b="1" lang="en-US" sz="1100">
                <a:latin typeface="Catamaran"/>
                <a:ea typeface="Catamaran"/>
                <a:cs typeface="Catamaran"/>
                <a:sym typeface="Catamaran"/>
              </a:rPr>
              <a:t>axes radiating from a central point</a:t>
            </a:r>
            <a:endParaRPr b="1"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The distance from the center shows the </a:t>
            </a:r>
            <a:r>
              <a:rPr b="1" lang="en-US" sz="1100">
                <a:latin typeface="Catamaran"/>
                <a:ea typeface="Catamaran"/>
                <a:cs typeface="Catamaran"/>
                <a:sym typeface="Catamaran"/>
              </a:rPr>
              <a:t>magnitude</a:t>
            </a:r>
            <a:r>
              <a:rPr lang="en-US" sz="1100">
                <a:latin typeface="Catamaran"/>
                <a:ea typeface="Catamaran"/>
                <a:cs typeface="Catamaran"/>
                <a:sym typeface="Catamaran"/>
              </a:rPr>
              <a:t> for each variable</a:t>
            </a:r>
            <a:endParaRPr sz="1100">
              <a:latin typeface="Catamaran"/>
              <a:ea typeface="Catamaran"/>
              <a:cs typeface="Catamaran"/>
              <a:sym typeface="Catamaran"/>
            </a:endParaRPr>
          </a:p>
          <a:p>
            <a:pPr indent="-298450" lvl="0" marL="457200" marR="0" rtl="0" algn="l">
              <a:lnSpc>
                <a:spcPct val="115000"/>
              </a:lnSpc>
              <a:spcBef>
                <a:spcPts val="1000"/>
              </a:spcBef>
              <a:spcAft>
                <a:spcPts val="0"/>
              </a:spcAft>
              <a:buSzPts val="1100"/>
              <a:buFont typeface="Catamaran"/>
              <a:buChar char="●"/>
            </a:pPr>
            <a:r>
              <a:rPr lang="en-US" sz="1100">
                <a:latin typeface="Catamaran"/>
                <a:ea typeface="Catamaran"/>
                <a:cs typeface="Catamaran"/>
                <a:sym typeface="Catamaran"/>
              </a:rPr>
              <a:t>Useful for spotting strengths, weaknesses, or similarities in multivariable data</a:t>
            </a:r>
            <a:endParaRPr sz="1100">
              <a:latin typeface="Catamaran"/>
              <a:ea typeface="Catamaran"/>
              <a:cs typeface="Catamaran"/>
              <a:sym typeface="Catamaran"/>
            </a:endParaRPr>
          </a:p>
          <a:p>
            <a:pPr indent="-292567" lvl="0" marL="431999" marR="0" rtl="0" algn="l">
              <a:lnSpc>
                <a:spcPct val="115000"/>
              </a:lnSpc>
              <a:spcBef>
                <a:spcPts val="100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a:p>
            <a:pPr indent="-292567" lvl="0" marL="431999" marR="0" rtl="0" algn="l">
              <a:lnSpc>
                <a:spcPct val="115000"/>
              </a:lnSpc>
              <a:spcBef>
                <a:spcPts val="850"/>
              </a:spcBef>
              <a:spcAft>
                <a:spcPts val="0"/>
              </a:spcAft>
              <a:buClr>
                <a:srgbClr val="000000"/>
              </a:buClr>
              <a:buSzPts val="495"/>
              <a:buFont typeface="Noto Sans Symbols"/>
              <a:buNone/>
            </a:pPr>
            <a:r>
              <a:t/>
            </a:r>
            <a:endParaRPr sz="1100">
              <a:latin typeface="Catamaran"/>
              <a:ea typeface="Catamaran"/>
              <a:cs typeface="Catamaran"/>
              <a:sym typeface="Catamar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63"/>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Analytics</a:t>
            </a:r>
            <a:endParaRPr b="0" sz="2200" strike="noStrike">
              <a:solidFill>
                <a:srgbClr val="000000"/>
              </a:solidFill>
              <a:latin typeface="Arial"/>
              <a:ea typeface="Arial"/>
              <a:cs typeface="Arial"/>
              <a:sym typeface="Arial"/>
            </a:endParaRPr>
          </a:p>
        </p:txBody>
      </p:sp>
      <p:sp>
        <p:nvSpPr>
          <p:cNvPr id="337" name="Google Shape;337;p63"/>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Correlations</a:t>
            </a:r>
            <a:endParaRPr b="0" sz="1400" strike="noStrike">
              <a:solidFill>
                <a:srgbClr val="000000"/>
              </a:solidFill>
              <a:latin typeface="Arial"/>
              <a:ea typeface="Arial"/>
              <a:cs typeface="Arial"/>
              <a:sym typeface="Arial"/>
            </a:endParaRPr>
          </a:p>
        </p:txBody>
      </p:sp>
      <p:sp>
        <p:nvSpPr>
          <p:cNvPr id="338" name="Google Shape;338;p63"/>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339" name="Google Shape;339;p63"/>
          <p:cNvSpPr txBox="1"/>
          <p:nvPr/>
        </p:nvSpPr>
        <p:spPr>
          <a:xfrm>
            <a:off x="716040" y="1524240"/>
            <a:ext cx="8304120" cy="2024280"/>
          </a:xfrm>
          <a:prstGeom prst="rect">
            <a:avLst/>
          </a:prstGeom>
          <a:noFill/>
          <a:ln>
            <a:noFill/>
          </a:ln>
        </p:spPr>
        <p:txBody>
          <a:bodyPr anchorCtr="0" anchor="t" bIns="91425" lIns="91425" spcFirstLastPara="1" rIns="91425" wrap="square" tIns="91425">
            <a:noAutofit/>
          </a:bodyPr>
          <a:lstStyle/>
          <a:p>
            <a:pPr indent="-324000" lvl="0" marL="432000" marR="0" rtl="0" algn="l">
              <a:lnSpc>
                <a:spcPct val="115000"/>
              </a:lnSpc>
              <a:spcBef>
                <a:spcPts val="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The user can do a</a:t>
            </a:r>
            <a:r>
              <a:rPr b="1" lang="en-US" sz="1100" strike="noStrike">
                <a:solidFill>
                  <a:srgbClr val="000000"/>
                </a:solidFill>
                <a:latin typeface="Catamaran"/>
                <a:ea typeface="Catamaran"/>
                <a:cs typeface="Catamaran"/>
                <a:sym typeface="Catamaran"/>
              </a:rPr>
              <a:t> real time computation</a:t>
            </a:r>
            <a:r>
              <a:rPr b="0" lang="en-US" sz="1100" strike="noStrike">
                <a:solidFill>
                  <a:srgbClr val="000000"/>
                </a:solidFill>
                <a:latin typeface="Catamaran"/>
                <a:ea typeface="Catamaran"/>
                <a:cs typeface="Catamaran"/>
                <a:sym typeface="Catamaran"/>
              </a:rPr>
              <a:t> on the correlations between the various indices or indicators present in the dataset.</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Compute the </a:t>
            </a:r>
            <a:r>
              <a:rPr b="0" i="1" lang="en-US" sz="1100" strike="noStrike">
                <a:solidFill>
                  <a:srgbClr val="000000"/>
                </a:solidFill>
                <a:latin typeface="Catamaran"/>
                <a:ea typeface="Catamaran"/>
                <a:cs typeface="Catamaran"/>
                <a:sym typeface="Catamaran"/>
              </a:rPr>
              <a:t>Pearson correlation coefficient</a:t>
            </a:r>
            <a:r>
              <a:rPr b="0" lang="en-US" sz="1100" strike="noStrike">
                <a:solidFill>
                  <a:srgbClr val="000000"/>
                </a:solidFill>
                <a:latin typeface="Catamaran"/>
                <a:ea typeface="Catamaran"/>
                <a:cs typeface="Catamaran"/>
                <a:sym typeface="Catamaran"/>
              </a:rPr>
              <a:t> between mean year of schooling and inequality in education.</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The </a:t>
            </a:r>
            <a:r>
              <a:rPr b="1" lang="en-US" sz="1100" strike="noStrike">
                <a:solidFill>
                  <a:srgbClr val="000000"/>
                </a:solidFill>
                <a:latin typeface="Catamaran"/>
                <a:ea typeface="Catamaran"/>
                <a:cs typeface="Catamaran"/>
                <a:sym typeface="Catamaran"/>
              </a:rPr>
              <a:t>correlation coefficient</a:t>
            </a:r>
            <a:r>
              <a:rPr b="0" lang="en-US" sz="1100" strike="noStrike">
                <a:solidFill>
                  <a:srgbClr val="000000"/>
                </a:solidFill>
                <a:latin typeface="Catamaran"/>
                <a:ea typeface="Catamaran"/>
                <a:cs typeface="Catamaran"/>
                <a:sym typeface="Catamaran"/>
              </a:rPr>
              <a:t> is a measure of the linear relationship between two variables.</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The result is in the range [-1,1]: -1 indicates a perfect negative correlation, 0 indicates no correlation, and 1 indicates a perfect positive correlation.</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The user can compute the correlation coefficient also on the filtered data.</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Minimum and maximum correlation coefficents from all possible pairs of attributes.</a:t>
            </a:r>
            <a:endParaRPr b="0" sz="1100" strike="noStrike">
              <a:solidFill>
                <a:srgbClr val="000000"/>
              </a:solidFill>
              <a:latin typeface="Arial"/>
              <a:ea typeface="Arial"/>
              <a:cs typeface="Arial"/>
              <a:sym typeface="Arial"/>
            </a:endParaRPr>
          </a:p>
        </p:txBody>
      </p:sp>
      <p:pic>
        <p:nvPicPr>
          <p:cNvPr id="340" name="Google Shape;340;p63"/>
          <p:cNvPicPr preferRelativeResize="0"/>
          <p:nvPr/>
        </p:nvPicPr>
        <p:blipFill rotWithShape="1">
          <a:blip r:embed="rId3">
            <a:alphaModFix/>
          </a:blip>
          <a:srcRect b="0" l="0" r="0" t="0"/>
          <a:stretch/>
        </p:blipFill>
        <p:spPr>
          <a:xfrm>
            <a:off x="243720" y="4039200"/>
            <a:ext cx="8881920" cy="2138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64"/>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346" name="Google Shape;346;p64"/>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Correlations in bubble plot: Estwaini insight</a:t>
            </a:r>
            <a:endParaRPr b="0" sz="1400" strike="noStrike">
              <a:solidFill>
                <a:srgbClr val="000000"/>
              </a:solidFill>
              <a:latin typeface="Arial"/>
              <a:ea typeface="Arial"/>
              <a:cs typeface="Arial"/>
              <a:sym typeface="Arial"/>
            </a:endParaRPr>
          </a:p>
        </p:txBody>
      </p:sp>
      <p:sp>
        <p:nvSpPr>
          <p:cNvPr id="347" name="Google Shape;347;p64"/>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348" name="Google Shape;348;p64"/>
          <p:cNvSpPr txBox="1"/>
          <p:nvPr/>
        </p:nvSpPr>
        <p:spPr>
          <a:xfrm>
            <a:off x="716040" y="1524240"/>
            <a:ext cx="3795120" cy="2024280"/>
          </a:xfrm>
          <a:prstGeom prst="rect">
            <a:avLst/>
          </a:prstGeom>
          <a:noFill/>
          <a:ln>
            <a:noFill/>
          </a:ln>
        </p:spPr>
        <p:txBody>
          <a:bodyPr anchorCtr="0" anchor="t" bIns="91425" lIns="91425" spcFirstLastPara="1" rIns="91425" wrap="square" tIns="91425">
            <a:noAutofit/>
          </a:bodyPr>
          <a:lstStyle/>
          <a:p>
            <a:pPr indent="-324000" lvl="0" marL="432000" marR="0" rtl="0" algn="l">
              <a:lnSpc>
                <a:spcPct val="115000"/>
              </a:lnSpc>
              <a:spcBef>
                <a:spcPts val="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Correlation coefficients provide insights on relationships between indexes in the data.</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High </a:t>
            </a:r>
            <a:r>
              <a:rPr b="1" lang="en-US" sz="1100" strike="noStrike">
                <a:solidFill>
                  <a:srgbClr val="000000"/>
                </a:solidFill>
                <a:latin typeface="Catamaran"/>
                <a:ea typeface="Catamaran"/>
                <a:cs typeface="Catamaran"/>
                <a:sym typeface="Catamaran"/>
              </a:rPr>
              <a:t>inequality in life expectancy</a:t>
            </a:r>
            <a:r>
              <a:rPr b="0" lang="en-US" sz="1100" strike="noStrike">
                <a:solidFill>
                  <a:srgbClr val="000000"/>
                </a:solidFill>
                <a:latin typeface="Catamaran"/>
                <a:ea typeface="Catamaran"/>
                <a:cs typeface="Catamaran"/>
                <a:sym typeface="Catamaran"/>
              </a:rPr>
              <a:t> mostly seen in African countries with low HDI, except for </a:t>
            </a:r>
            <a:r>
              <a:rPr b="1" lang="en-US" sz="1100" strike="noStrike">
                <a:solidFill>
                  <a:srgbClr val="000000"/>
                </a:solidFill>
                <a:latin typeface="Catamaran"/>
                <a:ea typeface="Catamaran"/>
                <a:cs typeface="Catamaran"/>
                <a:sym typeface="Catamaran"/>
              </a:rPr>
              <a:t>Eswatini</a:t>
            </a:r>
            <a:r>
              <a:rPr b="0" lang="en-US" sz="1100" strike="noStrike">
                <a:solidFill>
                  <a:srgbClr val="000000"/>
                </a:solidFill>
                <a:latin typeface="Catamaran"/>
                <a:ea typeface="Catamaran"/>
                <a:cs typeface="Catamaran"/>
                <a:sym typeface="Catamaran"/>
              </a:rPr>
              <a:t> and </a:t>
            </a:r>
            <a:r>
              <a:rPr b="1" lang="en-US" sz="1100" strike="noStrike">
                <a:solidFill>
                  <a:srgbClr val="000000"/>
                </a:solidFill>
                <a:latin typeface="Catamaran"/>
                <a:ea typeface="Catamaran"/>
                <a:cs typeface="Catamaran"/>
                <a:sym typeface="Catamaran"/>
              </a:rPr>
              <a:t>Lesotho</a:t>
            </a:r>
            <a:r>
              <a:rPr b="0" lang="en-US" sz="1100" strike="noStrike">
                <a:solidFill>
                  <a:srgbClr val="000000"/>
                </a:solidFill>
                <a:latin typeface="Catamaran"/>
                <a:ea typeface="Catamaran"/>
                <a:cs typeface="Catamaran"/>
                <a:sym typeface="Catamaran"/>
              </a:rPr>
              <a:t> from 2011-2014.</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Life expectancy in Estwain increased by almost 10 years from 2011 to 2021, but inequality conditions did not improve on average.</a:t>
            </a:r>
            <a:endParaRPr b="0" sz="1100" strike="noStrike">
              <a:solidFill>
                <a:srgbClr val="000000"/>
              </a:solidFill>
              <a:latin typeface="Arial"/>
              <a:ea typeface="Arial"/>
              <a:cs typeface="Arial"/>
              <a:sym typeface="Arial"/>
            </a:endParaRPr>
          </a:p>
        </p:txBody>
      </p:sp>
      <p:pic>
        <p:nvPicPr>
          <p:cNvPr id="349" name="Google Shape;349;p64"/>
          <p:cNvPicPr preferRelativeResize="0"/>
          <p:nvPr/>
        </p:nvPicPr>
        <p:blipFill rotWithShape="1">
          <a:blip r:embed="rId3">
            <a:alphaModFix/>
          </a:blip>
          <a:srcRect b="0" l="0" r="0" t="0"/>
          <a:stretch/>
        </p:blipFill>
        <p:spPr>
          <a:xfrm>
            <a:off x="4831920" y="1780920"/>
            <a:ext cx="3711600" cy="22575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65"/>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355" name="Google Shape;355;p65"/>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Correlations in bubble plot: Egypt vs Portugal</a:t>
            </a:r>
            <a:endParaRPr b="0" sz="1400" strike="noStrike">
              <a:solidFill>
                <a:srgbClr val="000000"/>
              </a:solidFill>
              <a:latin typeface="Arial"/>
              <a:ea typeface="Arial"/>
              <a:cs typeface="Arial"/>
              <a:sym typeface="Arial"/>
            </a:endParaRPr>
          </a:p>
        </p:txBody>
      </p:sp>
      <p:sp>
        <p:nvSpPr>
          <p:cNvPr id="356" name="Google Shape;356;p65"/>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357" name="Google Shape;357;p65"/>
          <p:cNvSpPr txBox="1"/>
          <p:nvPr/>
        </p:nvSpPr>
        <p:spPr>
          <a:xfrm>
            <a:off x="716040" y="1596240"/>
            <a:ext cx="3795120" cy="2024280"/>
          </a:xfrm>
          <a:prstGeom prst="rect">
            <a:avLst/>
          </a:prstGeom>
          <a:noFill/>
          <a:ln>
            <a:noFill/>
          </a:ln>
        </p:spPr>
        <p:txBody>
          <a:bodyPr anchorCtr="0" anchor="t" bIns="91425" lIns="91425" spcFirstLastPara="1" rIns="91425" wrap="square" tIns="91425">
            <a:noAutofit/>
          </a:bodyPr>
          <a:lstStyle/>
          <a:p>
            <a:pPr indent="-324000" lvl="0" marL="432000" marR="0" rtl="0" algn="l">
              <a:lnSpc>
                <a:spcPct val="115000"/>
              </a:lnSpc>
              <a:spcBef>
                <a:spcPts val="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Inequality in Education is </a:t>
            </a:r>
            <a:r>
              <a:rPr b="1" lang="en-US" sz="1100" strike="noStrike">
                <a:solidFill>
                  <a:srgbClr val="000000"/>
                </a:solidFill>
                <a:latin typeface="Catamaran"/>
                <a:ea typeface="Catamaran"/>
                <a:cs typeface="Catamaran"/>
                <a:sym typeface="Catamaran"/>
              </a:rPr>
              <a:t>negatively correlated</a:t>
            </a:r>
            <a:r>
              <a:rPr b="0" lang="en-US" sz="1100" strike="noStrike">
                <a:solidFill>
                  <a:srgbClr val="000000"/>
                </a:solidFill>
                <a:latin typeface="Catamaran"/>
                <a:ea typeface="Catamaran"/>
                <a:cs typeface="Catamaran"/>
                <a:sym typeface="Catamaran"/>
              </a:rPr>
              <a:t> with Mean Years of Schooling.</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As inequality in education increases, average years of schooling decrease.</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Egypt</a:t>
            </a:r>
            <a:r>
              <a:rPr b="0" lang="en-US" sz="1100" strike="noStrike">
                <a:solidFill>
                  <a:srgbClr val="000000"/>
                </a:solidFill>
                <a:latin typeface="Catamaran"/>
                <a:ea typeface="Catamaran"/>
                <a:cs typeface="Catamaran"/>
                <a:sym typeface="Catamaran"/>
              </a:rPr>
              <a:t> is more affected by </a:t>
            </a:r>
            <a:r>
              <a:rPr b="1" lang="en-US" sz="1100" strike="noStrike">
                <a:solidFill>
                  <a:srgbClr val="000000"/>
                </a:solidFill>
                <a:latin typeface="Catamaran"/>
                <a:ea typeface="Catamaran"/>
                <a:cs typeface="Catamaran"/>
                <a:sym typeface="Catamaran"/>
              </a:rPr>
              <a:t>inequality in education</a:t>
            </a:r>
            <a:r>
              <a:rPr b="0" lang="en-US" sz="1100" strike="noStrike">
                <a:solidFill>
                  <a:srgbClr val="000000"/>
                </a:solidFill>
                <a:latin typeface="Catamaran"/>
                <a:ea typeface="Catamaran"/>
                <a:cs typeface="Catamaran"/>
                <a:sym typeface="Catamaran"/>
              </a:rPr>
              <a:t> compared to other countries with similar Mean Years of Schooling (e.g. Portugal).</a:t>
            </a:r>
            <a:endParaRPr b="0" sz="1100" strike="noStrike">
              <a:solidFill>
                <a:srgbClr val="000000"/>
              </a:solidFill>
              <a:latin typeface="Arial"/>
              <a:ea typeface="Arial"/>
              <a:cs typeface="Arial"/>
              <a:sym typeface="Arial"/>
            </a:endParaRPr>
          </a:p>
        </p:txBody>
      </p:sp>
      <p:pic>
        <p:nvPicPr>
          <p:cNvPr id="358" name="Google Shape;358;p65"/>
          <p:cNvPicPr preferRelativeResize="0"/>
          <p:nvPr/>
        </p:nvPicPr>
        <p:blipFill rotWithShape="1">
          <a:blip r:embed="rId3">
            <a:alphaModFix/>
          </a:blip>
          <a:srcRect b="0" l="0" r="0" t="0"/>
          <a:stretch/>
        </p:blipFill>
        <p:spPr>
          <a:xfrm>
            <a:off x="5385240" y="1174320"/>
            <a:ext cx="3015360" cy="1715760"/>
          </a:xfrm>
          <a:prstGeom prst="rect">
            <a:avLst/>
          </a:prstGeom>
          <a:noFill/>
          <a:ln>
            <a:noFill/>
          </a:ln>
        </p:spPr>
      </p:pic>
      <p:pic>
        <p:nvPicPr>
          <p:cNvPr id="359" name="Google Shape;359;p65"/>
          <p:cNvPicPr preferRelativeResize="0"/>
          <p:nvPr/>
        </p:nvPicPr>
        <p:blipFill rotWithShape="1">
          <a:blip r:embed="rId4">
            <a:alphaModFix/>
          </a:blip>
          <a:srcRect b="0" l="0" r="0" t="0"/>
          <a:stretch/>
        </p:blipFill>
        <p:spPr>
          <a:xfrm>
            <a:off x="5385600" y="2884320"/>
            <a:ext cx="3014640" cy="17150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6"/>
          <p:cNvSpPr txBox="1"/>
          <p:nvPr/>
        </p:nvSpPr>
        <p:spPr>
          <a:xfrm>
            <a:off x="720000" y="720000"/>
            <a:ext cx="7688520" cy="534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2200" strike="noStrike">
                <a:solidFill>
                  <a:srgbClr val="BA131A"/>
                </a:solidFill>
                <a:latin typeface="Catamaran"/>
                <a:ea typeface="Catamaran"/>
                <a:cs typeface="Catamaran"/>
                <a:sym typeface="Catamaran"/>
              </a:rPr>
              <a:t>Insights</a:t>
            </a:r>
            <a:endParaRPr b="0" sz="2200" strike="noStrike">
              <a:solidFill>
                <a:srgbClr val="000000"/>
              </a:solidFill>
              <a:latin typeface="Arial"/>
              <a:ea typeface="Arial"/>
              <a:cs typeface="Arial"/>
              <a:sym typeface="Arial"/>
            </a:endParaRPr>
          </a:p>
        </p:txBody>
      </p:sp>
      <p:sp>
        <p:nvSpPr>
          <p:cNvPr id="365" name="Google Shape;365;p66"/>
          <p:cNvSpPr txBox="1"/>
          <p:nvPr/>
        </p:nvSpPr>
        <p:spPr>
          <a:xfrm>
            <a:off x="735480" y="1051200"/>
            <a:ext cx="7688520" cy="46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1" lang="en-US" sz="1400" strike="noStrike">
                <a:solidFill>
                  <a:srgbClr val="595959"/>
                </a:solidFill>
                <a:latin typeface="Catamaran"/>
                <a:ea typeface="Catamaran"/>
                <a:cs typeface="Catamaran"/>
                <a:sym typeface="Catamaran"/>
              </a:rPr>
              <a:t>MDS Continent Clusters: The case of Luxembourg</a:t>
            </a:r>
            <a:endParaRPr b="0" sz="1400" strike="noStrike">
              <a:solidFill>
                <a:srgbClr val="000000"/>
              </a:solidFill>
              <a:latin typeface="Arial"/>
              <a:ea typeface="Arial"/>
              <a:cs typeface="Arial"/>
              <a:sym typeface="Arial"/>
            </a:endParaRPr>
          </a:p>
        </p:txBody>
      </p:sp>
      <p:sp>
        <p:nvSpPr>
          <p:cNvPr id="366" name="Google Shape;366;p66"/>
          <p:cNvSpPr txBox="1"/>
          <p:nvPr/>
        </p:nvSpPr>
        <p:spPr>
          <a:xfrm>
            <a:off x="8536320" y="4749840"/>
            <a:ext cx="548280" cy="39312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fld id="{00000000-1234-1234-1234-123412341234}" type="slidenum">
              <a:rPr b="0" lang="en-US" sz="1000" strike="noStrike">
                <a:solidFill>
                  <a:srgbClr val="595959"/>
                </a:solidFill>
                <a:latin typeface="Catamaran"/>
                <a:ea typeface="Catamaran"/>
                <a:cs typeface="Catamaran"/>
                <a:sym typeface="Catamaran"/>
              </a:rPr>
              <a:t>‹#›</a:t>
            </a:fld>
            <a:endParaRPr b="0" sz="1000" strike="noStrike">
              <a:latin typeface="Times New Roman"/>
              <a:ea typeface="Times New Roman"/>
              <a:cs typeface="Times New Roman"/>
              <a:sym typeface="Times New Roman"/>
            </a:endParaRPr>
          </a:p>
        </p:txBody>
      </p:sp>
      <p:sp>
        <p:nvSpPr>
          <p:cNvPr id="367" name="Google Shape;367;p66"/>
          <p:cNvSpPr txBox="1"/>
          <p:nvPr/>
        </p:nvSpPr>
        <p:spPr>
          <a:xfrm>
            <a:off x="725400" y="1748520"/>
            <a:ext cx="3795120" cy="2024280"/>
          </a:xfrm>
          <a:prstGeom prst="rect">
            <a:avLst/>
          </a:prstGeom>
          <a:noFill/>
          <a:ln>
            <a:noFill/>
          </a:ln>
        </p:spPr>
        <p:txBody>
          <a:bodyPr anchorCtr="0" anchor="t" bIns="91425" lIns="91425" spcFirstLastPara="1" rIns="91425" wrap="square" tIns="91425">
            <a:noAutofit/>
          </a:bodyPr>
          <a:lstStyle/>
          <a:p>
            <a:pPr indent="-324000" lvl="0" marL="432000" marR="0" rtl="0" algn="l">
              <a:lnSpc>
                <a:spcPct val="115000"/>
              </a:lnSpc>
              <a:spcBef>
                <a:spcPts val="0"/>
              </a:spcBef>
              <a:spcAft>
                <a:spcPts val="0"/>
              </a:spcAft>
              <a:buClr>
                <a:srgbClr val="000000"/>
              </a:buClr>
              <a:buSzPts val="495"/>
              <a:buFont typeface="Noto Sans Symbols"/>
              <a:buChar char="●"/>
            </a:pPr>
            <a:r>
              <a:rPr b="0" lang="en-US" sz="1100" strike="noStrike">
                <a:solidFill>
                  <a:srgbClr val="000000"/>
                </a:solidFill>
                <a:latin typeface="Catamaran"/>
                <a:ea typeface="Catamaran"/>
                <a:cs typeface="Catamaran"/>
                <a:sym typeface="Catamaran"/>
              </a:rPr>
              <a:t>MDS plot shows how countries from different </a:t>
            </a:r>
            <a:r>
              <a:rPr b="1" lang="en-US" sz="1100" strike="noStrike">
                <a:solidFill>
                  <a:srgbClr val="000000"/>
                </a:solidFill>
                <a:latin typeface="Catamaran"/>
                <a:ea typeface="Catamaran"/>
                <a:cs typeface="Catamaran"/>
                <a:sym typeface="Catamaran"/>
              </a:rPr>
              <a:t>continents cluster</a:t>
            </a:r>
            <a:r>
              <a:rPr b="0" lang="en-US" sz="1100" strike="noStrike">
                <a:solidFill>
                  <a:srgbClr val="000000"/>
                </a:solidFill>
                <a:latin typeface="Catamaran"/>
                <a:ea typeface="Catamaran"/>
                <a:cs typeface="Catamaran"/>
                <a:sym typeface="Catamaran"/>
              </a:rPr>
              <a:t> together.</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High HDI European</a:t>
            </a:r>
            <a:r>
              <a:rPr b="0" lang="en-US" sz="1100" strike="noStrike">
                <a:solidFill>
                  <a:srgbClr val="000000"/>
                </a:solidFill>
                <a:latin typeface="Catamaran"/>
                <a:ea typeface="Catamaran"/>
                <a:cs typeface="Catamaran"/>
                <a:sym typeface="Catamaran"/>
              </a:rPr>
              <a:t> countries cluster together, with </a:t>
            </a:r>
            <a:r>
              <a:rPr b="1" lang="en-US" sz="1100" strike="noStrike">
                <a:solidFill>
                  <a:srgbClr val="000000"/>
                </a:solidFill>
                <a:latin typeface="Catamaran"/>
                <a:ea typeface="Catamaran"/>
                <a:cs typeface="Catamaran"/>
                <a:sym typeface="Catamaran"/>
              </a:rPr>
              <a:t>Luxembourg</a:t>
            </a:r>
            <a:r>
              <a:rPr b="0" lang="en-US" sz="1100" strike="noStrike">
                <a:solidFill>
                  <a:srgbClr val="000000"/>
                </a:solidFill>
                <a:latin typeface="Catamaran"/>
                <a:ea typeface="Catamaran"/>
                <a:cs typeface="Catamaran"/>
                <a:sym typeface="Catamaran"/>
              </a:rPr>
              <a:t> being most similar to </a:t>
            </a:r>
            <a:r>
              <a:rPr b="1" lang="en-US" sz="1100" strike="noStrike">
                <a:solidFill>
                  <a:srgbClr val="000000"/>
                </a:solidFill>
                <a:latin typeface="Catamaran"/>
                <a:ea typeface="Catamaran"/>
                <a:cs typeface="Catamaran"/>
                <a:sym typeface="Catamaran"/>
              </a:rPr>
              <a:t>Singapore</a:t>
            </a:r>
            <a:r>
              <a:rPr b="0" lang="en-US" sz="1100" strike="noStrike">
                <a:solidFill>
                  <a:srgbClr val="000000"/>
                </a:solidFill>
                <a:latin typeface="Catamaran"/>
                <a:ea typeface="Catamaran"/>
                <a:cs typeface="Catamaran"/>
                <a:sym typeface="Catamaran"/>
              </a:rPr>
              <a:t> and </a:t>
            </a:r>
            <a:r>
              <a:rPr b="1" lang="en-US" sz="1100" strike="noStrike">
                <a:solidFill>
                  <a:srgbClr val="000000"/>
                </a:solidFill>
                <a:latin typeface="Catamaran"/>
                <a:ea typeface="Catamaran"/>
                <a:cs typeface="Catamaran"/>
                <a:sym typeface="Catamaran"/>
              </a:rPr>
              <a:t>Hong</a:t>
            </a:r>
            <a:r>
              <a:rPr b="0" lang="en-US" sz="1100" strike="noStrike">
                <a:solidFill>
                  <a:srgbClr val="000000"/>
                </a:solidFill>
                <a:latin typeface="Catamaran"/>
                <a:ea typeface="Catamaran"/>
                <a:cs typeface="Catamaran"/>
                <a:sym typeface="Catamaran"/>
              </a:rPr>
              <a:t> </a:t>
            </a:r>
            <a:r>
              <a:rPr b="1" lang="en-US" sz="1100" strike="noStrike">
                <a:solidFill>
                  <a:srgbClr val="000000"/>
                </a:solidFill>
                <a:latin typeface="Catamaran"/>
                <a:ea typeface="Catamaran"/>
                <a:cs typeface="Catamaran"/>
                <a:sym typeface="Catamaran"/>
              </a:rPr>
              <a:t>Kong</a:t>
            </a:r>
            <a:r>
              <a:rPr b="0" lang="en-US" sz="1100" strike="noStrike">
                <a:solidFill>
                  <a:srgbClr val="000000"/>
                </a:solidFill>
                <a:latin typeface="Catamaran"/>
                <a:ea typeface="Catamaran"/>
                <a:cs typeface="Catamaran"/>
                <a:sym typeface="Catamaran"/>
              </a:rPr>
              <a:t>.</a:t>
            </a:r>
            <a:endParaRPr b="0" sz="1100" strike="noStrike">
              <a:solidFill>
                <a:srgbClr val="000000"/>
              </a:solidFill>
              <a:latin typeface="Arial"/>
              <a:ea typeface="Arial"/>
              <a:cs typeface="Arial"/>
              <a:sym typeface="Arial"/>
            </a:endParaRPr>
          </a:p>
          <a:p>
            <a:pPr indent="-324000" lvl="0" marL="432000" marR="0" rtl="0" algn="l">
              <a:lnSpc>
                <a:spcPct val="115000"/>
              </a:lnSpc>
              <a:spcBef>
                <a:spcPts val="850"/>
              </a:spcBef>
              <a:spcAft>
                <a:spcPts val="0"/>
              </a:spcAft>
              <a:buClr>
                <a:srgbClr val="000000"/>
              </a:buClr>
              <a:buSzPts val="495"/>
              <a:buFont typeface="Noto Sans Symbols"/>
              <a:buChar char="●"/>
            </a:pPr>
            <a:r>
              <a:rPr b="1" lang="en-US" sz="1100" strike="noStrike">
                <a:solidFill>
                  <a:srgbClr val="000000"/>
                </a:solidFill>
                <a:latin typeface="Catamaran"/>
                <a:ea typeface="Catamaran"/>
                <a:cs typeface="Catamaran"/>
                <a:sym typeface="Catamaran"/>
              </a:rPr>
              <a:t>Low HDI</a:t>
            </a:r>
            <a:r>
              <a:rPr b="0" lang="en-US" sz="1100" strike="noStrike">
                <a:solidFill>
                  <a:srgbClr val="000000"/>
                </a:solidFill>
                <a:latin typeface="Catamaran"/>
                <a:ea typeface="Catamaran"/>
                <a:cs typeface="Catamaran"/>
                <a:sym typeface="Catamaran"/>
              </a:rPr>
              <a:t> countries are mostly in </a:t>
            </a:r>
            <a:r>
              <a:rPr b="1" lang="en-US" sz="1100" strike="noStrike">
                <a:solidFill>
                  <a:srgbClr val="000000"/>
                </a:solidFill>
                <a:latin typeface="Catamaran"/>
                <a:ea typeface="Catamaran"/>
                <a:cs typeface="Catamaran"/>
                <a:sym typeface="Catamaran"/>
              </a:rPr>
              <a:t>Africa</a:t>
            </a:r>
            <a:r>
              <a:rPr b="0" lang="en-US" sz="1100" strike="noStrike">
                <a:solidFill>
                  <a:srgbClr val="000000"/>
                </a:solidFill>
                <a:latin typeface="Catamaran"/>
                <a:ea typeface="Catamaran"/>
                <a:cs typeface="Catamaran"/>
                <a:sym typeface="Catamaran"/>
              </a:rPr>
              <a:t>, except for Yemen, Afghanistan, and Pakistan, which are similar to Senegal and Gambia.</a:t>
            </a:r>
            <a:endParaRPr b="0" sz="1100" strike="noStrike">
              <a:solidFill>
                <a:srgbClr val="000000"/>
              </a:solidFill>
              <a:latin typeface="Arial"/>
              <a:ea typeface="Arial"/>
              <a:cs typeface="Arial"/>
              <a:sym typeface="Arial"/>
            </a:endParaRPr>
          </a:p>
        </p:txBody>
      </p:sp>
      <p:pic>
        <p:nvPicPr>
          <p:cNvPr id="368" name="Google Shape;368;p66"/>
          <p:cNvPicPr preferRelativeResize="0"/>
          <p:nvPr/>
        </p:nvPicPr>
        <p:blipFill rotWithShape="1">
          <a:blip r:embed="rId3">
            <a:alphaModFix/>
          </a:blip>
          <a:srcRect b="0" l="0" r="0" t="0"/>
          <a:stretch/>
        </p:blipFill>
        <p:spPr>
          <a:xfrm>
            <a:off x="4970160" y="1762560"/>
            <a:ext cx="3697200" cy="22906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7"/>
          <p:cNvSpPr txBox="1"/>
          <p:nvPr/>
        </p:nvSpPr>
        <p:spPr>
          <a:xfrm>
            <a:off x="659360" y="1273805"/>
            <a:ext cx="7687800" cy="166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4000" strike="noStrike">
                <a:solidFill>
                  <a:srgbClr val="CE181E"/>
                </a:solidFill>
                <a:latin typeface="Catamaran"/>
                <a:ea typeface="Catamaran"/>
                <a:cs typeface="Catamaran"/>
                <a:sym typeface="Catamaran"/>
              </a:rPr>
              <a:t>Live Demo</a:t>
            </a:r>
            <a:endParaRPr b="0" sz="3900" strike="noStrike">
              <a:solidFill>
                <a:srgbClr val="000000"/>
              </a:solidFill>
              <a:latin typeface="Arial"/>
              <a:ea typeface="Arial"/>
              <a:cs typeface="Arial"/>
              <a:sym typeface="Arial"/>
            </a:endParaRPr>
          </a:p>
        </p:txBody>
      </p:sp>
      <p:sp>
        <p:nvSpPr>
          <p:cNvPr id="374" name="Google Shape;374;p67"/>
          <p:cNvSpPr txBox="1"/>
          <p:nvPr/>
        </p:nvSpPr>
        <p:spPr>
          <a:xfrm>
            <a:off x="380600" y="2486475"/>
            <a:ext cx="62799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t>A live demo is available at the following site: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US" sz="1800" u="sng">
                <a:solidFill>
                  <a:schemeClr val="hlink"/>
                </a:solidFill>
                <a:hlinkClick r:id="rId3"/>
              </a:rPr>
              <a:t>Dashboard with RadViz</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8"/>
          <p:cNvSpPr txBox="1"/>
          <p:nvPr/>
        </p:nvSpPr>
        <p:spPr>
          <a:xfrm>
            <a:off x="729360" y="1322280"/>
            <a:ext cx="7687800" cy="7675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4200" strike="noStrike">
                <a:solidFill>
                  <a:srgbClr val="CE181E"/>
                </a:solidFill>
                <a:latin typeface="Catamaran"/>
                <a:ea typeface="Catamaran"/>
                <a:cs typeface="Catamaran"/>
                <a:sym typeface="Catamaran"/>
              </a:rPr>
              <a:t>Thank you for the attention!</a:t>
            </a:r>
            <a:endParaRPr b="0" sz="420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